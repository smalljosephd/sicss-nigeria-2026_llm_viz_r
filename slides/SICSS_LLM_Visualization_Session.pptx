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26"/>
  </p:notesMasterIdLst>
  <p:sldIdLst>
    <p:sldId id="281"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2"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938" autoAdjust="0"/>
  </p:normalViewPr>
  <p:slideViewPr>
    <p:cSldViewPr snapToGrid="0" snapToObjects="1">
      <p:cViewPr varScale="1">
        <p:scale>
          <a:sx n="60" d="100"/>
          <a:sy n="60" d="100"/>
        </p:scale>
        <p:origin x="884"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46432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 the morning, I believe you </a:t>
            </a:r>
            <a:r>
              <a:rPr dirty="0"/>
              <a:t>scraped </a:t>
            </a:r>
            <a:r>
              <a:rPr lang="en-US" dirty="0"/>
              <a:t>Wikipedia’s </a:t>
            </a:r>
            <a:r>
              <a:rPr dirty="0"/>
              <a:t>article text and revision history, and this session uses both. </a:t>
            </a:r>
            <a:r>
              <a:rPr lang="en-US" dirty="0"/>
              <a:t>O</a:t>
            </a:r>
            <a:r>
              <a:rPr dirty="0"/>
              <a:t>ne article runs through the whole session</a:t>
            </a:r>
            <a:r>
              <a:rPr lang="en-US"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Defin</a:t>
            </a:r>
            <a:r>
              <a:rPr lang="en-US" dirty="0"/>
              <a:t>ition:</a:t>
            </a:r>
            <a:r>
              <a:rPr dirty="0"/>
              <a:t> Nodes are things, edges are relationships, every edge reads as a three part sentence. </a:t>
            </a:r>
            <a:r>
              <a:rPr lang="en-US" dirty="0"/>
              <a:t>Why is it important or useful?</a:t>
            </a:r>
            <a:r>
              <a:rPr dirty="0"/>
              <a:t> a graph shows structure a linear read cannot, and the same idea appears in policy analysis, medical literature and journalism.</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Let’s walk through </a:t>
            </a:r>
            <a:r>
              <a:rPr dirty="0"/>
              <a:t>the four steps, then the code slide, then build it live. </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 map of </a:t>
            </a:r>
            <a:r>
              <a:t>the scriptThree </a:t>
            </a:r>
            <a:r>
              <a:rPr dirty="0"/>
              <a:t>stages: </a:t>
            </a:r>
            <a:r>
              <a:rPr dirty="0" err="1"/>
              <a:t>tidytext</a:t>
            </a:r>
            <a:r>
              <a:rPr dirty="0"/>
              <a:t> splits and cleans, </a:t>
            </a:r>
            <a:r>
              <a:rPr dirty="0" err="1"/>
              <a:t>widyr</a:t>
            </a:r>
            <a:r>
              <a:rPr dirty="0"/>
              <a:t> counts the pairs, </a:t>
            </a:r>
            <a:r>
              <a:rPr dirty="0" err="1"/>
              <a:t>igraph</a:t>
            </a:r>
            <a:r>
              <a:rPr dirty="0"/>
              <a:t> and </a:t>
            </a:r>
            <a:r>
              <a:rPr dirty="0" err="1"/>
              <a:t>ggraph</a:t>
            </a:r>
            <a:r>
              <a:rPr dirty="0"/>
              <a:t> build and draw. Point at MIN_EDGE and say that is the setting you will change live. Then switch to RStudio and build it section by section.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pivot of part one. The word pair on the left carries no meaning beyond proximity. The triple on the right names the connection and gives it direction. Everything after this exists to fill that gap.</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Connect to a local model, make one call per passage carrying the instruction and the schema, receive two tables. </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They are genuinely different because the articles hold different relationships. The script keeps one instruction per article and falls back to a general one otherwise. </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moment two of three, and the one not to rush. Put the relations table and the article side by side in RStudio. Read three or four rows aloud against the source. If one is unsupported, delete it on screen. The third card is true and worth telling: an early run of this very script produced nodes saying no information, because the model answered about the passage rather than the subject. That is why the script filters them now.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Let’s place the figure from the classic and model-based knowledge graph from script 05 </a:t>
            </a:r>
            <a:r>
              <a:rPr dirty="0"/>
              <a:t>side by side, then this table as the summary. Walk two or three rows, not all six. The last two carry the methodological weight: counting is arithmetic and repeatable, the model is a reading and must be checked.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forward pointer. If anyone has seen </a:t>
            </a:r>
            <a:r>
              <a:rPr lang="en-US" dirty="0" err="1"/>
              <a:t>GraphRAG</a:t>
            </a:r>
            <a:r>
              <a:rPr lang="en-US" dirty="0"/>
              <a:t> (Graph Retrieval-Augmented Generation) demos (see </a:t>
            </a:r>
            <a:r>
              <a:rPr lang="en-US" b="0" i="0" u="none" strike="noStrike" dirty="0">
                <a:solidFill>
                  <a:srgbClr val="1F1F1F"/>
                </a:solidFill>
                <a:effectLst/>
                <a:latin typeface="Arial" panose="020B0604020202020204" pitchFamily="34" charset="0"/>
              </a:rPr>
              <a:t>Neo4j</a:t>
            </a:r>
            <a:r>
              <a:rPr lang="en-US" b="0" i="0" u="none" strike="noStrike" dirty="0">
                <a:solidFill>
                  <a:srgbClr val="1A0DAB"/>
                </a:solidFill>
                <a:effectLst/>
                <a:latin typeface="Arial" panose="020B0604020202020204" pitchFamily="34" charset="0"/>
              </a:rPr>
              <a:t>.com</a:t>
            </a:r>
            <a:r>
              <a:rPr lang="en-US" dirty="0"/>
              <a:t>), this is the connection: same extraction step, many documents, stored in a database, queried rather than viewed.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28856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sentences on the left carry the concept. On the right, read one row aloud: in 2015 the text was 22 percent theme one, 30 percent theme two. That table is the whole output. The chart is one column of it plotted against time.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Stage one turns text into a word count table. Stage two fits the model; point at two lines, K is your choice and prevalence is the single line that makes change over time possible. Stage three averages within each year, which keeps every value a real proportion. Note </a:t>
            </a:r>
            <a:r>
              <a:rPr dirty="0" err="1"/>
              <a:t>quanteda</a:t>
            </a:r>
            <a:r>
              <a:rPr dirty="0"/>
              <a:t>::convert with the prefix, because another package also defines convert.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Run </a:t>
            </a:r>
            <a:r>
              <a:rPr dirty="0" err="1"/>
              <a:t>labelTopics</a:t>
            </a:r>
            <a:r>
              <a:rPr dirty="0"/>
              <a:t> on</a:t>
            </a:r>
            <a:r>
              <a:rPr lang="en-US" dirty="0"/>
              <a:t> </a:t>
            </a:r>
            <a:r>
              <a:rPr dirty="0"/>
              <a:t>fitted model and show the real word lists. Make the point that hand naming is legitimate and has always been the practice. Then name the cost: slow, and until done the chart is unreadable. That sets up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Let’s s</a:t>
            </a:r>
            <a:r>
              <a:rPr dirty="0"/>
              <a:t>how the labels </a:t>
            </a:r>
            <a:r>
              <a:rPr lang="en-US" dirty="0"/>
              <a:t>the </a:t>
            </a:r>
            <a:r>
              <a:rPr dirty="0"/>
              <a:t>run produced, then draw the chart with those labels in the legend. If time allows, </a:t>
            </a:r>
            <a:r>
              <a:rPr lang="en-US" dirty="0"/>
              <a:t>we can </a:t>
            </a:r>
            <a:r>
              <a:rPr dirty="0"/>
              <a:t>delete the labels cache first, draw with Topic 1 and Topic 2 in the legend, then restore and draw again. Ten seconds, and it demonstrates the contribution better than any claim.</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decline in war narrative and the rise in international involvement are real in the data. The 2015 jump is worth flagging as probably structural rather than editorial framing. Saying so is the difference between showing a chart and reading one.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7542D15-BEE5-F8ED-49A3-1BBFB249D6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 y="429"/>
            <a:ext cx="12190476" cy="6857143"/>
          </a:xfrm>
          <a:prstGeom prst="rect">
            <a:avLst/>
          </a:prstGeom>
        </p:spPr>
      </p:pic>
      <p:sp>
        <p:nvSpPr>
          <p:cNvPr id="5" name="TextBox 5"/>
          <p:cNvSpPr txBox="1"/>
          <p:nvPr/>
        </p:nvSpPr>
        <p:spPr>
          <a:xfrm>
            <a:off x="1603412" y="1500160"/>
            <a:ext cx="9301654" cy="2536015"/>
          </a:xfrm>
          <a:prstGeom prst="rect">
            <a:avLst/>
          </a:prstGeom>
        </p:spPr>
        <p:txBody>
          <a:bodyPr wrap="square" lIns="0" tIns="0" rIns="0" bIns="0" rtlCol="0" anchor="t">
            <a:spAutoFit/>
          </a:bodyPr>
          <a:lstStyle/>
          <a:p>
            <a:pPr algn="ctr">
              <a:lnSpc>
                <a:spcPts val="6500"/>
              </a:lnSpc>
              <a:spcBef>
                <a:spcPct val="0"/>
              </a:spcBef>
            </a:pPr>
            <a:r>
              <a:rPr lang="en-US" sz="7200" dirty="0">
                <a:solidFill>
                  <a:srgbClr val="000000"/>
                </a:solidFill>
                <a:latin typeface="Canva Sans"/>
                <a:ea typeface="Canva Sans"/>
                <a:cs typeface="Canva Sans"/>
                <a:sym typeface="Canva Sans"/>
              </a:rPr>
              <a:t>LLM </a:t>
            </a:r>
            <a:r>
              <a:rPr lang="en-US" sz="7200" dirty="0" err="1">
                <a:solidFill>
                  <a:srgbClr val="000000"/>
                </a:solidFill>
                <a:latin typeface="Canva Sans"/>
                <a:ea typeface="Canva Sans"/>
                <a:cs typeface="Canva Sans"/>
                <a:sym typeface="Canva Sans"/>
              </a:rPr>
              <a:t>Visualisation</a:t>
            </a:r>
            <a:r>
              <a:rPr lang="en-US" sz="7200" dirty="0">
                <a:solidFill>
                  <a:srgbClr val="000000"/>
                </a:solidFill>
                <a:latin typeface="Canva Sans"/>
                <a:ea typeface="Canva Sans"/>
                <a:cs typeface="Canva Sans"/>
                <a:sym typeface="Canva Sans"/>
              </a:rPr>
              <a:t> (Knowledge Graph, Topic evolution charts)</a:t>
            </a:r>
          </a:p>
        </p:txBody>
      </p:sp>
      <p:sp>
        <p:nvSpPr>
          <p:cNvPr id="6" name="TextBox 6"/>
          <p:cNvSpPr txBox="1"/>
          <p:nvPr/>
        </p:nvSpPr>
        <p:spPr>
          <a:xfrm>
            <a:off x="1876098" y="5502856"/>
            <a:ext cx="9301654" cy="384464"/>
          </a:xfrm>
          <a:prstGeom prst="rect">
            <a:avLst/>
          </a:prstGeom>
        </p:spPr>
        <p:txBody>
          <a:bodyPr wrap="square" lIns="0" tIns="0" rIns="0" bIns="0" rtlCol="0" anchor="t">
            <a:spAutoFit/>
          </a:bodyPr>
          <a:lstStyle/>
          <a:p>
            <a:pPr algn="ctr">
              <a:lnSpc>
                <a:spcPts val="3173"/>
              </a:lnSpc>
            </a:pPr>
            <a:r>
              <a:rPr lang="en-US" sz="2266" i="1" dirty="0">
                <a:solidFill>
                  <a:srgbClr val="000000"/>
                </a:solidFill>
                <a:latin typeface="Canva Sans Italics"/>
                <a:ea typeface="Canva Sans Italics"/>
                <a:cs typeface="Canva Sans Italics"/>
                <a:sym typeface="Canva Sans Italics"/>
              </a:rPr>
              <a:t>Preston Consults Ltd, Abuja / </a:t>
            </a:r>
            <a:r>
              <a:rPr lang="en-US" sz="2266" i="1" dirty="0" err="1">
                <a:solidFill>
                  <a:srgbClr val="000000"/>
                </a:solidFill>
                <a:latin typeface="Canva Sans Italics"/>
                <a:ea typeface="Canva Sans Italics"/>
                <a:cs typeface="Canva Sans Italics"/>
                <a:sym typeface="Canva Sans Italics"/>
              </a:rPr>
              <a:t>Universiti</a:t>
            </a:r>
            <a:r>
              <a:rPr lang="en-US" sz="2266" i="1" dirty="0">
                <a:solidFill>
                  <a:srgbClr val="000000"/>
                </a:solidFill>
                <a:latin typeface="Canva Sans Italics"/>
                <a:ea typeface="Canva Sans Italics"/>
                <a:cs typeface="Canva Sans Italics"/>
                <a:sym typeface="Canva Sans Italics"/>
              </a:rPr>
              <a:t> Pendidikan Sultan Idris (UPSI), Malaysia</a:t>
            </a:r>
          </a:p>
        </p:txBody>
      </p:sp>
      <p:sp>
        <p:nvSpPr>
          <p:cNvPr id="7" name="TextBox 7"/>
          <p:cNvSpPr txBox="1"/>
          <p:nvPr/>
        </p:nvSpPr>
        <p:spPr>
          <a:xfrm>
            <a:off x="2445649" y="4697332"/>
            <a:ext cx="7300702" cy="572464"/>
          </a:xfrm>
          <a:prstGeom prst="rect">
            <a:avLst/>
          </a:prstGeom>
        </p:spPr>
        <p:txBody>
          <a:bodyPr wrap="square" lIns="0" tIns="0" rIns="0" bIns="0" rtlCol="0" anchor="t">
            <a:spAutoFit/>
          </a:bodyPr>
          <a:lstStyle/>
          <a:p>
            <a:pPr algn="ctr">
              <a:lnSpc>
                <a:spcPts val="4853"/>
              </a:lnSpc>
            </a:pPr>
            <a:r>
              <a:rPr lang="en-US" sz="3466" b="1" dirty="0">
                <a:solidFill>
                  <a:srgbClr val="000000"/>
                </a:solidFill>
                <a:latin typeface="Canva Sans Bold"/>
                <a:ea typeface="Canva Sans Bold"/>
                <a:cs typeface="Canva Sans Bold"/>
                <a:sym typeface="Canva Sans Bold"/>
              </a:rPr>
              <a:t>Joseph L. David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8644" y="457199"/>
            <a:ext cx="82296" cy="98532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Where this session sits</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Text analysis in one slide, so we share a map before we start.</a:t>
            </a:r>
          </a:p>
        </p:txBody>
      </p:sp>
      <p:sp>
        <p:nvSpPr>
          <p:cNvPr id="5" name="TextBox 4"/>
          <p:cNvSpPr txBox="1"/>
          <p:nvPr/>
        </p:nvSpPr>
        <p:spPr>
          <a:xfrm>
            <a:off x="566928" y="1600200"/>
            <a:ext cx="11057839" cy="830997"/>
          </a:xfrm>
          <a:prstGeom prst="rect">
            <a:avLst/>
          </a:prstGeom>
          <a:noFill/>
        </p:spPr>
        <p:txBody>
          <a:bodyPr wrap="square" anchor="t">
            <a:spAutoFit/>
          </a:bodyPr>
          <a:lstStyle/>
          <a:p>
            <a:pPr algn="l"/>
            <a:r>
              <a:rPr sz="2400" b="0" i="0" dirty="0">
                <a:solidFill>
                  <a:srgbClr val="1F2933"/>
                </a:solidFill>
                <a:latin typeface="Calibri"/>
              </a:rPr>
              <a:t>Text analysis means treating documents as data. The text becomes counts or structures, and those are </a:t>
            </a:r>
            <a:r>
              <a:rPr sz="2400" b="0" i="0" dirty="0" err="1">
                <a:solidFill>
                  <a:srgbClr val="1F2933"/>
                </a:solidFill>
                <a:latin typeface="Calibri"/>
              </a:rPr>
              <a:t>analysed</a:t>
            </a:r>
            <a:r>
              <a:rPr sz="2400" b="0" i="0" dirty="0">
                <a:solidFill>
                  <a:srgbClr val="1F2933"/>
                </a:solidFill>
                <a:latin typeface="Calibri"/>
              </a:rPr>
              <a:t> like any other data. The steps are always some version of this:</a:t>
            </a:r>
          </a:p>
        </p:txBody>
      </p:sp>
      <p:sp>
        <p:nvSpPr>
          <p:cNvPr id="6" name="Rounded Rectangle 5"/>
          <p:cNvSpPr/>
          <p:nvPr/>
        </p:nvSpPr>
        <p:spPr>
          <a:xfrm>
            <a:off x="566928" y="2823880"/>
            <a:ext cx="2101840" cy="16029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Oval 6"/>
          <p:cNvSpPr/>
          <p:nvPr/>
        </p:nvSpPr>
        <p:spPr>
          <a:xfrm>
            <a:off x="768096" y="3034324"/>
            <a:ext cx="402336" cy="370909"/>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768096" y="2972014"/>
            <a:ext cx="402336" cy="400110"/>
          </a:xfrm>
          <a:prstGeom prst="rect">
            <a:avLst/>
          </a:prstGeom>
          <a:noFill/>
        </p:spPr>
        <p:txBody>
          <a:bodyPr wrap="square" anchor="ctr">
            <a:spAutoFit/>
          </a:bodyPr>
          <a:lstStyle/>
          <a:p>
            <a:pPr algn="ctr"/>
            <a:r>
              <a:rPr sz="2000" b="1" i="0">
                <a:solidFill>
                  <a:srgbClr val="FFFFFF"/>
                </a:solidFill>
                <a:latin typeface="Georgia"/>
              </a:rPr>
              <a:t>1</a:t>
            </a:r>
          </a:p>
        </p:txBody>
      </p:sp>
      <p:sp>
        <p:nvSpPr>
          <p:cNvPr id="9" name="TextBox 8"/>
          <p:cNvSpPr txBox="1"/>
          <p:nvPr/>
        </p:nvSpPr>
        <p:spPr>
          <a:xfrm>
            <a:off x="768096" y="3463960"/>
            <a:ext cx="1699504" cy="369332"/>
          </a:xfrm>
          <a:prstGeom prst="rect">
            <a:avLst/>
          </a:prstGeom>
          <a:noFill/>
        </p:spPr>
        <p:txBody>
          <a:bodyPr wrap="square" anchor="t">
            <a:spAutoFit/>
          </a:bodyPr>
          <a:lstStyle/>
          <a:p>
            <a:pPr algn="l"/>
            <a:r>
              <a:rPr b="1" i="0">
                <a:solidFill>
                  <a:srgbClr val="16324F"/>
                </a:solidFill>
                <a:latin typeface="Georgia"/>
              </a:rPr>
              <a:t>Collect</a:t>
            </a:r>
          </a:p>
        </p:txBody>
      </p:sp>
      <p:sp>
        <p:nvSpPr>
          <p:cNvPr id="10" name="TextBox 9"/>
          <p:cNvSpPr txBox="1"/>
          <p:nvPr/>
        </p:nvSpPr>
        <p:spPr>
          <a:xfrm>
            <a:off x="768096" y="3747424"/>
            <a:ext cx="1699504" cy="523220"/>
          </a:xfrm>
          <a:prstGeom prst="rect">
            <a:avLst/>
          </a:prstGeom>
          <a:noFill/>
        </p:spPr>
        <p:txBody>
          <a:bodyPr wrap="square" anchor="t">
            <a:spAutoFit/>
          </a:bodyPr>
          <a:lstStyle/>
          <a:p>
            <a:pPr algn="l"/>
            <a:r>
              <a:rPr sz="1400" b="0" i="0">
                <a:solidFill>
                  <a:srgbClr val="667685"/>
                </a:solidFill>
                <a:latin typeface="Calibri"/>
              </a:rPr>
              <a:t>articles, speeches, tweets</a:t>
            </a:r>
          </a:p>
        </p:txBody>
      </p:sp>
      <p:sp>
        <p:nvSpPr>
          <p:cNvPr id="11" name="Rounded Rectangle 10"/>
          <p:cNvSpPr/>
          <p:nvPr/>
        </p:nvSpPr>
        <p:spPr>
          <a:xfrm>
            <a:off x="2805927" y="2823880"/>
            <a:ext cx="2101840" cy="16029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2" name="Oval 11"/>
          <p:cNvSpPr/>
          <p:nvPr/>
        </p:nvSpPr>
        <p:spPr>
          <a:xfrm>
            <a:off x="3007095" y="3034324"/>
            <a:ext cx="402336" cy="370909"/>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3007095" y="2972014"/>
            <a:ext cx="402336" cy="400110"/>
          </a:xfrm>
          <a:prstGeom prst="rect">
            <a:avLst/>
          </a:prstGeom>
          <a:noFill/>
        </p:spPr>
        <p:txBody>
          <a:bodyPr wrap="square" anchor="ctr">
            <a:spAutoFit/>
          </a:bodyPr>
          <a:lstStyle/>
          <a:p>
            <a:pPr algn="ctr"/>
            <a:r>
              <a:rPr sz="2000" b="1" i="0" dirty="0">
                <a:solidFill>
                  <a:srgbClr val="FFFFFF"/>
                </a:solidFill>
                <a:latin typeface="Georgia"/>
              </a:rPr>
              <a:t>2</a:t>
            </a:r>
          </a:p>
        </p:txBody>
      </p:sp>
      <p:sp>
        <p:nvSpPr>
          <p:cNvPr id="14" name="TextBox 13"/>
          <p:cNvSpPr txBox="1"/>
          <p:nvPr/>
        </p:nvSpPr>
        <p:spPr>
          <a:xfrm>
            <a:off x="3007095" y="3463960"/>
            <a:ext cx="1699504" cy="369332"/>
          </a:xfrm>
          <a:prstGeom prst="rect">
            <a:avLst/>
          </a:prstGeom>
          <a:noFill/>
        </p:spPr>
        <p:txBody>
          <a:bodyPr wrap="square" anchor="t">
            <a:spAutoFit/>
          </a:bodyPr>
          <a:lstStyle/>
          <a:p>
            <a:pPr algn="l"/>
            <a:r>
              <a:rPr b="1" i="0">
                <a:solidFill>
                  <a:srgbClr val="16324F"/>
                </a:solidFill>
                <a:latin typeface="Georgia"/>
              </a:rPr>
              <a:t>Prepare</a:t>
            </a:r>
          </a:p>
        </p:txBody>
      </p:sp>
      <p:sp>
        <p:nvSpPr>
          <p:cNvPr id="15" name="TextBox 14"/>
          <p:cNvSpPr txBox="1"/>
          <p:nvPr/>
        </p:nvSpPr>
        <p:spPr>
          <a:xfrm>
            <a:off x="3007095" y="3747424"/>
            <a:ext cx="1699504" cy="523220"/>
          </a:xfrm>
          <a:prstGeom prst="rect">
            <a:avLst/>
          </a:prstGeom>
          <a:noFill/>
        </p:spPr>
        <p:txBody>
          <a:bodyPr wrap="square" anchor="t">
            <a:spAutoFit/>
          </a:bodyPr>
          <a:lstStyle/>
          <a:p>
            <a:pPr algn="l"/>
            <a:r>
              <a:rPr sz="1400" b="0" i="0">
                <a:solidFill>
                  <a:srgbClr val="667685"/>
                </a:solidFill>
                <a:latin typeface="Calibri"/>
              </a:rPr>
              <a:t>split into words, remove noise</a:t>
            </a:r>
          </a:p>
        </p:txBody>
      </p:sp>
      <p:sp>
        <p:nvSpPr>
          <p:cNvPr id="16" name="Rounded Rectangle 15"/>
          <p:cNvSpPr/>
          <p:nvPr/>
        </p:nvSpPr>
        <p:spPr>
          <a:xfrm>
            <a:off x="5044927" y="2823880"/>
            <a:ext cx="2101840" cy="16029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7" name="Oval 16"/>
          <p:cNvSpPr/>
          <p:nvPr/>
        </p:nvSpPr>
        <p:spPr>
          <a:xfrm>
            <a:off x="5246095" y="3034324"/>
            <a:ext cx="402336" cy="370909"/>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8" name="TextBox 17"/>
          <p:cNvSpPr txBox="1"/>
          <p:nvPr/>
        </p:nvSpPr>
        <p:spPr>
          <a:xfrm>
            <a:off x="5246095" y="2954085"/>
            <a:ext cx="402336" cy="400110"/>
          </a:xfrm>
          <a:prstGeom prst="rect">
            <a:avLst/>
          </a:prstGeom>
          <a:noFill/>
        </p:spPr>
        <p:txBody>
          <a:bodyPr wrap="square" anchor="ctr">
            <a:spAutoFit/>
          </a:bodyPr>
          <a:lstStyle/>
          <a:p>
            <a:pPr algn="ctr"/>
            <a:r>
              <a:rPr sz="2000" b="1" i="0" dirty="0">
                <a:solidFill>
                  <a:srgbClr val="FFFFFF"/>
                </a:solidFill>
                <a:latin typeface="Georgia"/>
              </a:rPr>
              <a:t>3</a:t>
            </a:r>
          </a:p>
        </p:txBody>
      </p:sp>
      <p:sp>
        <p:nvSpPr>
          <p:cNvPr id="19" name="TextBox 18"/>
          <p:cNvSpPr txBox="1"/>
          <p:nvPr/>
        </p:nvSpPr>
        <p:spPr>
          <a:xfrm>
            <a:off x="5246095" y="3463960"/>
            <a:ext cx="1699504" cy="369332"/>
          </a:xfrm>
          <a:prstGeom prst="rect">
            <a:avLst/>
          </a:prstGeom>
          <a:noFill/>
        </p:spPr>
        <p:txBody>
          <a:bodyPr wrap="square" anchor="t">
            <a:spAutoFit/>
          </a:bodyPr>
          <a:lstStyle/>
          <a:p>
            <a:pPr algn="l"/>
            <a:r>
              <a:rPr b="1" i="0">
                <a:solidFill>
                  <a:srgbClr val="16324F"/>
                </a:solidFill>
                <a:latin typeface="Georgia"/>
              </a:rPr>
              <a:t>Represent</a:t>
            </a:r>
          </a:p>
        </p:txBody>
      </p:sp>
      <p:sp>
        <p:nvSpPr>
          <p:cNvPr id="20" name="TextBox 19"/>
          <p:cNvSpPr txBox="1"/>
          <p:nvPr/>
        </p:nvSpPr>
        <p:spPr>
          <a:xfrm>
            <a:off x="5246095" y="3747424"/>
            <a:ext cx="1699504" cy="307777"/>
          </a:xfrm>
          <a:prstGeom prst="rect">
            <a:avLst/>
          </a:prstGeom>
          <a:noFill/>
        </p:spPr>
        <p:txBody>
          <a:bodyPr wrap="square" anchor="t">
            <a:spAutoFit/>
          </a:bodyPr>
          <a:lstStyle/>
          <a:p>
            <a:pPr algn="l"/>
            <a:r>
              <a:rPr sz="1400" b="0" i="0">
                <a:solidFill>
                  <a:srgbClr val="667685"/>
                </a:solidFill>
                <a:latin typeface="Calibri"/>
              </a:rPr>
              <a:t>counts, pairs, tables</a:t>
            </a:r>
          </a:p>
        </p:txBody>
      </p:sp>
      <p:sp>
        <p:nvSpPr>
          <p:cNvPr id="21" name="Rounded Rectangle 20"/>
          <p:cNvSpPr/>
          <p:nvPr/>
        </p:nvSpPr>
        <p:spPr>
          <a:xfrm>
            <a:off x="7283927" y="2823880"/>
            <a:ext cx="2101840" cy="16029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2" name="Oval 21"/>
          <p:cNvSpPr/>
          <p:nvPr/>
        </p:nvSpPr>
        <p:spPr>
          <a:xfrm>
            <a:off x="7485095" y="3034324"/>
            <a:ext cx="402336" cy="370909"/>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3" name="TextBox 22"/>
          <p:cNvSpPr txBox="1"/>
          <p:nvPr/>
        </p:nvSpPr>
        <p:spPr>
          <a:xfrm>
            <a:off x="7485095" y="2954085"/>
            <a:ext cx="402336" cy="400110"/>
          </a:xfrm>
          <a:prstGeom prst="rect">
            <a:avLst/>
          </a:prstGeom>
          <a:noFill/>
        </p:spPr>
        <p:txBody>
          <a:bodyPr wrap="square" anchor="ctr">
            <a:spAutoFit/>
          </a:bodyPr>
          <a:lstStyle/>
          <a:p>
            <a:pPr algn="ctr"/>
            <a:r>
              <a:rPr sz="2000" b="1" i="0" dirty="0">
                <a:solidFill>
                  <a:srgbClr val="FFFFFF"/>
                </a:solidFill>
                <a:latin typeface="Georgia"/>
              </a:rPr>
              <a:t>4</a:t>
            </a:r>
          </a:p>
        </p:txBody>
      </p:sp>
      <p:sp>
        <p:nvSpPr>
          <p:cNvPr id="24" name="TextBox 23"/>
          <p:cNvSpPr txBox="1"/>
          <p:nvPr/>
        </p:nvSpPr>
        <p:spPr>
          <a:xfrm>
            <a:off x="7485095" y="3463960"/>
            <a:ext cx="1699504" cy="369332"/>
          </a:xfrm>
          <a:prstGeom prst="rect">
            <a:avLst/>
          </a:prstGeom>
          <a:noFill/>
        </p:spPr>
        <p:txBody>
          <a:bodyPr wrap="square" anchor="t">
            <a:spAutoFit/>
          </a:bodyPr>
          <a:lstStyle/>
          <a:p>
            <a:pPr algn="l"/>
            <a:r>
              <a:rPr b="1" i="0">
                <a:solidFill>
                  <a:srgbClr val="16324F"/>
                </a:solidFill>
                <a:latin typeface="Georgia"/>
              </a:rPr>
              <a:t>Analyse</a:t>
            </a:r>
          </a:p>
        </p:txBody>
      </p:sp>
      <p:sp>
        <p:nvSpPr>
          <p:cNvPr id="25" name="TextBox 24"/>
          <p:cNvSpPr txBox="1"/>
          <p:nvPr/>
        </p:nvSpPr>
        <p:spPr>
          <a:xfrm>
            <a:off x="7485095" y="3747424"/>
            <a:ext cx="1699504" cy="307777"/>
          </a:xfrm>
          <a:prstGeom prst="rect">
            <a:avLst/>
          </a:prstGeom>
          <a:noFill/>
        </p:spPr>
        <p:txBody>
          <a:bodyPr wrap="square" anchor="t">
            <a:spAutoFit/>
          </a:bodyPr>
          <a:lstStyle/>
          <a:p>
            <a:pPr algn="l"/>
            <a:r>
              <a:rPr sz="1400" b="0" i="0">
                <a:solidFill>
                  <a:srgbClr val="667685"/>
                </a:solidFill>
                <a:latin typeface="Calibri"/>
              </a:rPr>
              <a:t>networks, models</a:t>
            </a:r>
          </a:p>
        </p:txBody>
      </p:sp>
      <p:sp>
        <p:nvSpPr>
          <p:cNvPr id="26" name="Rounded Rectangle 25"/>
          <p:cNvSpPr/>
          <p:nvPr/>
        </p:nvSpPr>
        <p:spPr>
          <a:xfrm>
            <a:off x="9522927" y="2823880"/>
            <a:ext cx="2101840" cy="16029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Oval 26"/>
          <p:cNvSpPr/>
          <p:nvPr/>
        </p:nvSpPr>
        <p:spPr>
          <a:xfrm>
            <a:off x="9724095" y="3034324"/>
            <a:ext cx="402336" cy="370909"/>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8" name="TextBox 27"/>
          <p:cNvSpPr txBox="1"/>
          <p:nvPr/>
        </p:nvSpPr>
        <p:spPr>
          <a:xfrm>
            <a:off x="9724095" y="2954085"/>
            <a:ext cx="402336" cy="400110"/>
          </a:xfrm>
          <a:prstGeom prst="rect">
            <a:avLst/>
          </a:prstGeom>
          <a:noFill/>
        </p:spPr>
        <p:txBody>
          <a:bodyPr wrap="square" anchor="ctr">
            <a:spAutoFit/>
          </a:bodyPr>
          <a:lstStyle/>
          <a:p>
            <a:pPr algn="ctr"/>
            <a:r>
              <a:rPr sz="2000" b="1" i="0" dirty="0">
                <a:solidFill>
                  <a:srgbClr val="FFFFFF"/>
                </a:solidFill>
                <a:latin typeface="Georgia"/>
              </a:rPr>
              <a:t>5</a:t>
            </a:r>
          </a:p>
        </p:txBody>
      </p:sp>
      <p:sp>
        <p:nvSpPr>
          <p:cNvPr id="29" name="TextBox 28"/>
          <p:cNvSpPr txBox="1"/>
          <p:nvPr/>
        </p:nvSpPr>
        <p:spPr>
          <a:xfrm>
            <a:off x="9724095" y="3463960"/>
            <a:ext cx="1699504" cy="369332"/>
          </a:xfrm>
          <a:prstGeom prst="rect">
            <a:avLst/>
          </a:prstGeom>
          <a:noFill/>
        </p:spPr>
        <p:txBody>
          <a:bodyPr wrap="square" anchor="t">
            <a:spAutoFit/>
          </a:bodyPr>
          <a:lstStyle/>
          <a:p>
            <a:pPr algn="l"/>
            <a:r>
              <a:rPr b="1" i="0">
                <a:solidFill>
                  <a:srgbClr val="16324F"/>
                </a:solidFill>
                <a:latin typeface="Georgia"/>
              </a:rPr>
              <a:t>Show</a:t>
            </a:r>
          </a:p>
        </p:txBody>
      </p:sp>
      <p:sp>
        <p:nvSpPr>
          <p:cNvPr id="30" name="TextBox 29"/>
          <p:cNvSpPr txBox="1"/>
          <p:nvPr/>
        </p:nvSpPr>
        <p:spPr>
          <a:xfrm>
            <a:off x="9724095" y="3747424"/>
            <a:ext cx="1699504" cy="307777"/>
          </a:xfrm>
          <a:prstGeom prst="rect">
            <a:avLst/>
          </a:prstGeom>
          <a:noFill/>
        </p:spPr>
        <p:txBody>
          <a:bodyPr wrap="square" anchor="t">
            <a:spAutoFit/>
          </a:bodyPr>
          <a:lstStyle/>
          <a:p>
            <a:pPr algn="l"/>
            <a:r>
              <a:rPr sz="1400" b="0" i="0">
                <a:solidFill>
                  <a:srgbClr val="667685"/>
                </a:solidFill>
                <a:latin typeface="Calibri"/>
              </a:rPr>
              <a:t>graphs and charts</a:t>
            </a:r>
          </a:p>
        </p:txBody>
      </p:sp>
      <p:sp>
        <p:nvSpPr>
          <p:cNvPr id="31" name="Rounded Rectangle 30"/>
          <p:cNvSpPr/>
          <p:nvPr/>
        </p:nvSpPr>
        <p:spPr>
          <a:xfrm>
            <a:off x="566928" y="4810456"/>
            <a:ext cx="11057839" cy="1602923"/>
          </a:xfrm>
          <a:prstGeom prst="roundRect">
            <a:avLst>
              <a:gd name="adj" fmla="val 6000"/>
            </a:avLst>
          </a:prstGeom>
          <a:solidFill>
            <a:srgbClr val="E8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TextBox 31"/>
          <p:cNvSpPr txBox="1"/>
          <p:nvPr/>
        </p:nvSpPr>
        <p:spPr>
          <a:xfrm>
            <a:off x="886968" y="4898325"/>
            <a:ext cx="10417759" cy="369332"/>
          </a:xfrm>
          <a:prstGeom prst="rect">
            <a:avLst/>
          </a:prstGeom>
          <a:noFill/>
        </p:spPr>
        <p:txBody>
          <a:bodyPr wrap="square" anchor="t">
            <a:spAutoFit/>
          </a:bodyPr>
          <a:lstStyle/>
          <a:p>
            <a:pPr algn="l"/>
            <a:r>
              <a:rPr b="1" i="0" dirty="0">
                <a:solidFill>
                  <a:srgbClr val="16324F"/>
                </a:solidFill>
                <a:latin typeface="Calibri"/>
              </a:rPr>
              <a:t>Where the language model fits</a:t>
            </a:r>
          </a:p>
        </p:txBody>
      </p:sp>
      <p:sp>
        <p:nvSpPr>
          <p:cNvPr id="33" name="TextBox 32"/>
          <p:cNvSpPr txBox="1"/>
          <p:nvPr/>
        </p:nvSpPr>
        <p:spPr>
          <a:xfrm>
            <a:off x="886967" y="5378853"/>
            <a:ext cx="10417759" cy="923330"/>
          </a:xfrm>
          <a:prstGeom prst="rect">
            <a:avLst/>
          </a:prstGeom>
          <a:noFill/>
        </p:spPr>
        <p:txBody>
          <a:bodyPr wrap="square" anchor="t">
            <a:spAutoFit/>
          </a:bodyPr>
          <a:lstStyle/>
          <a:p>
            <a:pPr algn="just"/>
            <a:r>
              <a:rPr b="0" i="0" dirty="0">
                <a:solidFill>
                  <a:srgbClr val="1F2933"/>
                </a:solidFill>
                <a:latin typeface="Calibri"/>
              </a:rPr>
              <a:t>All of that existed before language models. The model enters at two points: it can read text and return structure that counting cannot produce, and it can turn technical output into words a reader can follow. Today shows one example of each.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200"/>
            <a:ext cx="82296" cy="90812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What we will do</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Two builds. Each done twice: first by counting, then with a language model.</a:t>
            </a:r>
          </a:p>
        </p:txBody>
      </p:sp>
      <p:sp>
        <p:nvSpPr>
          <p:cNvPr id="5" name="Rounded Rectangle 4"/>
          <p:cNvSpPr/>
          <p:nvPr/>
        </p:nvSpPr>
        <p:spPr>
          <a:xfrm>
            <a:off x="566928" y="1743634"/>
            <a:ext cx="11057839" cy="178308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566928" y="1743634"/>
            <a:ext cx="50292" cy="178308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Oval 6"/>
          <p:cNvSpPr/>
          <p:nvPr/>
        </p:nvSpPr>
        <p:spPr>
          <a:xfrm>
            <a:off x="886968" y="2017953"/>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8" name="TextBox 7"/>
          <p:cNvSpPr txBox="1"/>
          <p:nvPr/>
        </p:nvSpPr>
        <p:spPr>
          <a:xfrm>
            <a:off x="886968" y="2019066"/>
            <a:ext cx="402336" cy="400110"/>
          </a:xfrm>
          <a:prstGeom prst="rect">
            <a:avLst/>
          </a:prstGeom>
          <a:noFill/>
        </p:spPr>
        <p:txBody>
          <a:bodyPr wrap="square" anchor="ctr">
            <a:spAutoFit/>
          </a:bodyPr>
          <a:lstStyle/>
          <a:p>
            <a:pPr algn="ctr"/>
            <a:r>
              <a:rPr sz="2000" b="1" i="0">
                <a:solidFill>
                  <a:srgbClr val="FFFFFF"/>
                </a:solidFill>
                <a:latin typeface="Georgia"/>
              </a:rPr>
              <a:t>1</a:t>
            </a:r>
          </a:p>
        </p:txBody>
      </p:sp>
      <p:sp>
        <p:nvSpPr>
          <p:cNvPr id="9" name="TextBox 8"/>
          <p:cNvSpPr txBox="1"/>
          <p:nvPr/>
        </p:nvSpPr>
        <p:spPr>
          <a:xfrm>
            <a:off x="1435607" y="1963090"/>
            <a:ext cx="4754880" cy="523220"/>
          </a:xfrm>
          <a:prstGeom prst="rect">
            <a:avLst/>
          </a:prstGeom>
          <a:noFill/>
        </p:spPr>
        <p:txBody>
          <a:bodyPr wrap="square" anchor="t">
            <a:spAutoFit/>
          </a:bodyPr>
          <a:lstStyle/>
          <a:p>
            <a:pPr algn="l"/>
            <a:r>
              <a:rPr sz="2800" b="1" i="0">
                <a:solidFill>
                  <a:srgbClr val="16324F"/>
                </a:solidFill>
                <a:latin typeface="Georgia"/>
              </a:rPr>
              <a:t>Knowledge graph</a:t>
            </a:r>
          </a:p>
        </p:txBody>
      </p:sp>
      <p:sp>
        <p:nvSpPr>
          <p:cNvPr id="10" name="TextBox 9"/>
          <p:cNvSpPr txBox="1"/>
          <p:nvPr/>
        </p:nvSpPr>
        <p:spPr>
          <a:xfrm>
            <a:off x="1435607" y="2550120"/>
            <a:ext cx="4200606" cy="1015663"/>
          </a:xfrm>
          <a:prstGeom prst="rect">
            <a:avLst/>
          </a:prstGeom>
          <a:noFill/>
        </p:spPr>
        <p:txBody>
          <a:bodyPr wrap="square" anchor="t">
            <a:spAutoFit/>
          </a:bodyPr>
          <a:lstStyle/>
          <a:p>
            <a:pPr algn="l"/>
            <a:r>
              <a:rPr sz="2000" b="0" i="0" dirty="0">
                <a:solidFill>
                  <a:srgbClr val="1F2933"/>
                </a:solidFill>
                <a:latin typeface="Calibri"/>
              </a:rPr>
              <a:t>One Wikipedia article, </a:t>
            </a:r>
            <a:r>
              <a:rPr lang="en-US" sz="2000" b="0" i="0" dirty="0">
                <a:solidFill>
                  <a:srgbClr val="1F2933"/>
                </a:solidFill>
                <a:latin typeface="Calibri"/>
              </a:rPr>
              <a:t>document, tweets, </a:t>
            </a:r>
            <a:r>
              <a:rPr sz="2000" b="0" i="0" dirty="0">
                <a:solidFill>
                  <a:srgbClr val="1F2933"/>
                </a:solidFill>
                <a:latin typeface="Calibri"/>
              </a:rPr>
              <a:t>drawn as a network of the things it names.</a:t>
            </a:r>
          </a:p>
        </p:txBody>
      </p:sp>
      <p:sp>
        <p:nvSpPr>
          <p:cNvPr id="11" name="TextBox 10"/>
          <p:cNvSpPr txBox="1"/>
          <p:nvPr/>
        </p:nvSpPr>
        <p:spPr>
          <a:xfrm>
            <a:off x="6354620" y="2044870"/>
            <a:ext cx="5202938" cy="1180067"/>
          </a:xfrm>
          <a:prstGeom prst="rect">
            <a:avLst/>
          </a:prstGeom>
          <a:noFill/>
        </p:spPr>
        <p:txBody>
          <a:bodyPr wrap="square" anchor="t">
            <a:spAutoFit/>
          </a:bodyPr>
          <a:lstStyle/>
          <a:p>
            <a:pPr algn="l">
              <a:lnSpc>
                <a:spcPct val="135000"/>
              </a:lnSpc>
            </a:pPr>
            <a:r>
              <a:rPr b="1" i="0" dirty="0">
                <a:solidFill>
                  <a:srgbClr val="667685"/>
                </a:solidFill>
                <a:latin typeface="Consolas"/>
              </a:rPr>
              <a:t>Counting:</a:t>
            </a:r>
            <a:r>
              <a:rPr b="0" i="0" dirty="0">
                <a:solidFill>
                  <a:srgbClr val="667685"/>
                </a:solidFill>
                <a:latin typeface="Consolas"/>
              </a:rPr>
              <a:t> which words share a sentence</a:t>
            </a:r>
          </a:p>
          <a:p>
            <a:pPr algn="l">
              <a:lnSpc>
                <a:spcPct val="135000"/>
              </a:lnSpc>
            </a:pPr>
            <a:r>
              <a:rPr b="1" i="0" dirty="0">
                <a:solidFill>
                  <a:srgbClr val="667685"/>
                </a:solidFill>
                <a:latin typeface="Consolas"/>
              </a:rPr>
              <a:t>Model:</a:t>
            </a:r>
            <a:r>
              <a:rPr b="0" i="0" dirty="0">
                <a:solidFill>
                  <a:srgbClr val="667685"/>
                </a:solidFill>
                <a:latin typeface="Consolas"/>
              </a:rPr>
              <a:t> what the things are, and how they relate</a:t>
            </a:r>
          </a:p>
        </p:txBody>
      </p:sp>
      <p:sp>
        <p:nvSpPr>
          <p:cNvPr id="12" name="Rounded Rectangle 11"/>
          <p:cNvSpPr/>
          <p:nvPr/>
        </p:nvSpPr>
        <p:spPr>
          <a:xfrm>
            <a:off x="566928" y="3709594"/>
            <a:ext cx="11057839" cy="178308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Rectangle 12"/>
          <p:cNvSpPr/>
          <p:nvPr/>
        </p:nvSpPr>
        <p:spPr>
          <a:xfrm>
            <a:off x="566928" y="3709594"/>
            <a:ext cx="50292" cy="1783080"/>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Oval 13"/>
          <p:cNvSpPr/>
          <p:nvPr/>
        </p:nvSpPr>
        <p:spPr>
          <a:xfrm>
            <a:off x="886968" y="3983914"/>
            <a:ext cx="402336" cy="402336"/>
          </a:xfrm>
          <a:prstGeom prst="ellipse">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86968" y="3985027"/>
            <a:ext cx="402336" cy="400110"/>
          </a:xfrm>
          <a:prstGeom prst="rect">
            <a:avLst/>
          </a:prstGeom>
          <a:noFill/>
        </p:spPr>
        <p:txBody>
          <a:bodyPr wrap="square" anchor="ctr">
            <a:spAutoFit/>
          </a:bodyPr>
          <a:lstStyle/>
          <a:p>
            <a:pPr algn="ctr"/>
            <a:r>
              <a:rPr sz="2000" b="1" i="0">
                <a:solidFill>
                  <a:srgbClr val="FFFFFF"/>
                </a:solidFill>
                <a:latin typeface="Georgia"/>
              </a:rPr>
              <a:t>2</a:t>
            </a:r>
          </a:p>
        </p:txBody>
      </p:sp>
      <p:sp>
        <p:nvSpPr>
          <p:cNvPr id="16" name="TextBox 15"/>
          <p:cNvSpPr txBox="1"/>
          <p:nvPr/>
        </p:nvSpPr>
        <p:spPr>
          <a:xfrm>
            <a:off x="1435607" y="3929049"/>
            <a:ext cx="4754880" cy="523220"/>
          </a:xfrm>
          <a:prstGeom prst="rect">
            <a:avLst/>
          </a:prstGeom>
          <a:noFill/>
        </p:spPr>
        <p:txBody>
          <a:bodyPr wrap="square" anchor="t">
            <a:spAutoFit/>
          </a:bodyPr>
          <a:lstStyle/>
          <a:p>
            <a:pPr algn="l"/>
            <a:r>
              <a:rPr sz="2800" b="1" i="0">
                <a:solidFill>
                  <a:srgbClr val="16324F"/>
                </a:solidFill>
                <a:latin typeface="Georgia"/>
              </a:rPr>
              <a:t>Themes over time</a:t>
            </a:r>
          </a:p>
        </p:txBody>
      </p:sp>
      <p:sp>
        <p:nvSpPr>
          <p:cNvPr id="17" name="TextBox 16"/>
          <p:cNvSpPr txBox="1"/>
          <p:nvPr/>
        </p:nvSpPr>
        <p:spPr>
          <a:xfrm>
            <a:off x="1435607" y="4385173"/>
            <a:ext cx="3898854" cy="1015663"/>
          </a:xfrm>
          <a:prstGeom prst="rect">
            <a:avLst/>
          </a:prstGeom>
          <a:noFill/>
        </p:spPr>
        <p:txBody>
          <a:bodyPr wrap="square" anchor="t">
            <a:spAutoFit/>
          </a:bodyPr>
          <a:lstStyle/>
          <a:p>
            <a:pPr algn="l"/>
            <a:r>
              <a:rPr sz="2000" b="0" i="0" dirty="0">
                <a:solidFill>
                  <a:srgbClr val="1F2933"/>
                </a:solidFill>
                <a:latin typeface="Calibri"/>
              </a:rPr>
              <a:t>The same article, </a:t>
            </a:r>
            <a:r>
              <a:rPr lang="en-US" sz="2000" b="0" i="0" dirty="0">
                <a:solidFill>
                  <a:srgbClr val="1F2933"/>
                </a:solidFill>
                <a:latin typeface="Calibri"/>
              </a:rPr>
              <a:t>document, or tweets, </a:t>
            </a:r>
            <a:r>
              <a:rPr sz="2000" b="0" i="0" dirty="0">
                <a:solidFill>
                  <a:srgbClr val="1F2933"/>
                </a:solidFill>
                <a:latin typeface="Calibri"/>
              </a:rPr>
              <a:t>one version per year, showing which themes rise and fall.</a:t>
            </a:r>
          </a:p>
        </p:txBody>
      </p:sp>
      <p:sp>
        <p:nvSpPr>
          <p:cNvPr id="18" name="TextBox 17"/>
          <p:cNvSpPr txBox="1"/>
          <p:nvPr/>
        </p:nvSpPr>
        <p:spPr>
          <a:xfrm>
            <a:off x="6336790" y="4166794"/>
            <a:ext cx="5202938" cy="806118"/>
          </a:xfrm>
          <a:prstGeom prst="rect">
            <a:avLst/>
          </a:prstGeom>
          <a:noFill/>
        </p:spPr>
        <p:txBody>
          <a:bodyPr wrap="square" anchor="t">
            <a:spAutoFit/>
          </a:bodyPr>
          <a:lstStyle/>
          <a:p>
            <a:pPr algn="just">
              <a:lnSpc>
                <a:spcPct val="135000"/>
              </a:lnSpc>
            </a:pPr>
            <a:r>
              <a:rPr b="1" i="0" dirty="0">
                <a:solidFill>
                  <a:srgbClr val="667685"/>
                </a:solidFill>
                <a:latin typeface="Consolas"/>
              </a:rPr>
              <a:t>Counting:</a:t>
            </a:r>
            <a:r>
              <a:rPr b="0" i="0" dirty="0">
                <a:solidFill>
                  <a:srgbClr val="667685"/>
                </a:solidFill>
                <a:latin typeface="Consolas"/>
              </a:rPr>
              <a:t> numbered groups of word stems</a:t>
            </a:r>
          </a:p>
          <a:p>
            <a:pPr algn="just">
              <a:lnSpc>
                <a:spcPct val="135000"/>
              </a:lnSpc>
            </a:pPr>
            <a:r>
              <a:rPr b="1" i="0" dirty="0">
                <a:solidFill>
                  <a:srgbClr val="667685"/>
                </a:solidFill>
                <a:latin typeface="Consolas"/>
              </a:rPr>
              <a:t>Model:</a:t>
            </a:r>
            <a:r>
              <a:rPr b="0" i="0" dirty="0">
                <a:solidFill>
                  <a:srgbClr val="667685"/>
                </a:solidFill>
                <a:latin typeface="Consolas"/>
              </a:rPr>
              <a:t> a readable name for each theme</a:t>
            </a:r>
          </a:p>
        </p:txBody>
      </p:sp>
      <p:sp>
        <p:nvSpPr>
          <p:cNvPr id="19" name="TextBox 18"/>
          <p:cNvSpPr txBox="1"/>
          <p:nvPr/>
        </p:nvSpPr>
        <p:spPr>
          <a:xfrm>
            <a:off x="566928" y="5766993"/>
            <a:ext cx="11057839" cy="369332"/>
          </a:xfrm>
          <a:prstGeom prst="rect">
            <a:avLst/>
          </a:prstGeom>
          <a:noFill/>
        </p:spPr>
        <p:txBody>
          <a:bodyPr wrap="square" anchor="t">
            <a:spAutoFit/>
          </a:bodyPr>
          <a:lstStyle/>
          <a:p>
            <a:pPr algn="l"/>
            <a:r>
              <a:rPr b="0" i="0">
                <a:solidFill>
                  <a:srgbClr val="667685"/>
                </a:solidFill>
                <a:latin typeface="Calibri"/>
              </a:rPr>
              <a:t>The question running through both:  </a:t>
            </a:r>
            <a:r>
              <a:rPr b="1" i="0">
                <a:solidFill>
                  <a:srgbClr val="16324F"/>
                </a:solidFill>
                <a:latin typeface="Calibri"/>
              </a:rPr>
              <a:t>what does the model add that counting cannot 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954547"/>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The data</a:t>
            </a:r>
          </a:p>
        </p:txBody>
      </p:sp>
      <p:sp>
        <p:nvSpPr>
          <p:cNvPr id="4" name="TextBox 3"/>
          <p:cNvSpPr txBox="1"/>
          <p:nvPr/>
        </p:nvSpPr>
        <p:spPr>
          <a:xfrm>
            <a:off x="804672" y="1013869"/>
            <a:ext cx="10783519" cy="400110"/>
          </a:xfrm>
          <a:prstGeom prst="rect">
            <a:avLst/>
          </a:prstGeom>
          <a:noFill/>
        </p:spPr>
        <p:txBody>
          <a:bodyPr wrap="square" anchor="t">
            <a:spAutoFit/>
          </a:bodyPr>
          <a:lstStyle/>
          <a:p>
            <a:pPr algn="l"/>
            <a:r>
              <a:rPr sz="2000" b="0" i="0" dirty="0">
                <a:solidFill>
                  <a:srgbClr val="667685"/>
                </a:solidFill>
                <a:latin typeface="Calibri"/>
              </a:rPr>
              <a:t>One article, asked two different questions.</a:t>
            </a:r>
          </a:p>
        </p:txBody>
      </p:sp>
      <p:sp>
        <p:nvSpPr>
          <p:cNvPr id="5" name="Rounded Rectangle 4"/>
          <p:cNvSpPr/>
          <p:nvPr/>
        </p:nvSpPr>
        <p:spPr>
          <a:xfrm>
            <a:off x="566928" y="1887069"/>
            <a:ext cx="5346039" cy="3017520"/>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ectangle 5"/>
          <p:cNvSpPr/>
          <p:nvPr/>
        </p:nvSpPr>
        <p:spPr>
          <a:xfrm>
            <a:off x="566928" y="1887069"/>
            <a:ext cx="50292" cy="30175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TextBox 6"/>
          <p:cNvSpPr txBox="1"/>
          <p:nvPr/>
        </p:nvSpPr>
        <p:spPr>
          <a:xfrm>
            <a:off x="886968" y="2088237"/>
            <a:ext cx="4705959" cy="523220"/>
          </a:xfrm>
          <a:prstGeom prst="rect">
            <a:avLst/>
          </a:prstGeom>
          <a:noFill/>
        </p:spPr>
        <p:txBody>
          <a:bodyPr wrap="square" anchor="t">
            <a:spAutoFit/>
          </a:bodyPr>
          <a:lstStyle/>
          <a:p>
            <a:pPr algn="l"/>
            <a:r>
              <a:rPr sz="2800" b="1" i="0">
                <a:solidFill>
                  <a:srgbClr val="0E7C86"/>
                </a:solidFill>
                <a:latin typeface="Georgia"/>
              </a:rPr>
              <a:t>The article as it stands</a:t>
            </a:r>
          </a:p>
        </p:txBody>
      </p:sp>
      <p:sp>
        <p:nvSpPr>
          <p:cNvPr id="8" name="TextBox 7"/>
          <p:cNvSpPr txBox="1"/>
          <p:nvPr/>
        </p:nvSpPr>
        <p:spPr>
          <a:xfrm>
            <a:off x="804672" y="2664789"/>
            <a:ext cx="4705959" cy="1200329"/>
          </a:xfrm>
          <a:prstGeom prst="rect">
            <a:avLst/>
          </a:prstGeom>
          <a:noFill/>
        </p:spPr>
        <p:txBody>
          <a:bodyPr wrap="square" anchor="t">
            <a:spAutoFit/>
          </a:bodyPr>
          <a:lstStyle/>
          <a:p>
            <a:pPr algn="l"/>
            <a:r>
              <a:rPr b="1" i="0" dirty="0">
                <a:solidFill>
                  <a:srgbClr val="1F2933"/>
                </a:solidFill>
                <a:latin typeface="Calibri"/>
              </a:rPr>
              <a:t>“Nigerian Civil War”, fetched from Wikipedia. </a:t>
            </a:r>
            <a:r>
              <a:rPr b="0" i="0" dirty="0">
                <a:solidFill>
                  <a:srgbClr val="1F2933"/>
                </a:solidFill>
                <a:latin typeface="Calibri"/>
              </a:rPr>
              <a:t>Long, and dense with people, places and </a:t>
            </a:r>
            <a:r>
              <a:rPr b="0" i="0" dirty="0" err="1">
                <a:solidFill>
                  <a:srgbClr val="1F2933"/>
                </a:solidFill>
                <a:latin typeface="Calibri"/>
              </a:rPr>
              <a:t>organisations</a:t>
            </a:r>
            <a:r>
              <a:rPr b="0" i="0" dirty="0">
                <a:solidFill>
                  <a:srgbClr val="1F2933"/>
                </a:solidFill>
                <a:latin typeface="Calibri"/>
              </a:rPr>
              <a:t>. That is what a knowledge graph needs.</a:t>
            </a:r>
          </a:p>
        </p:txBody>
      </p:sp>
      <p:sp>
        <p:nvSpPr>
          <p:cNvPr id="9" name="TextBox 8"/>
          <p:cNvSpPr txBox="1"/>
          <p:nvPr/>
        </p:nvSpPr>
        <p:spPr>
          <a:xfrm>
            <a:off x="886967" y="3918451"/>
            <a:ext cx="4705959" cy="646331"/>
          </a:xfrm>
          <a:prstGeom prst="rect">
            <a:avLst/>
          </a:prstGeom>
          <a:noFill/>
        </p:spPr>
        <p:txBody>
          <a:bodyPr wrap="square" anchor="t">
            <a:spAutoFit/>
          </a:bodyPr>
          <a:lstStyle/>
          <a:p>
            <a:pPr algn="l"/>
            <a:r>
              <a:rPr b="0" i="0" dirty="0">
                <a:solidFill>
                  <a:srgbClr val="667685"/>
                </a:solidFill>
                <a:latin typeface="Calibri"/>
              </a:rPr>
              <a:t>Part one asks: what does this article say, and how do the things it names connect?</a:t>
            </a:r>
          </a:p>
        </p:txBody>
      </p:sp>
      <p:sp>
        <p:nvSpPr>
          <p:cNvPr id="10" name="Rounded Rectangle 9"/>
          <p:cNvSpPr/>
          <p:nvPr/>
        </p:nvSpPr>
        <p:spPr>
          <a:xfrm>
            <a:off x="6278727" y="1887069"/>
            <a:ext cx="5346039" cy="3017520"/>
          </a:xfrm>
          <a:prstGeom prst="roundRect">
            <a:avLst>
              <a:gd name="adj" fmla="val 6000"/>
            </a:avLst>
          </a:prstGeom>
          <a:solidFill>
            <a:srgbClr val="FB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Rectangle 10"/>
          <p:cNvSpPr/>
          <p:nvPr/>
        </p:nvSpPr>
        <p:spPr>
          <a:xfrm>
            <a:off x="6278727" y="1887069"/>
            <a:ext cx="50292" cy="3017520"/>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6463892" y="1910867"/>
            <a:ext cx="5026000" cy="954107"/>
          </a:xfrm>
          <a:prstGeom prst="rect">
            <a:avLst/>
          </a:prstGeom>
          <a:noFill/>
        </p:spPr>
        <p:txBody>
          <a:bodyPr wrap="square" anchor="t">
            <a:spAutoFit/>
          </a:bodyPr>
          <a:lstStyle/>
          <a:p>
            <a:pPr algn="l"/>
            <a:r>
              <a:rPr sz="2800" b="1" i="0" dirty="0">
                <a:solidFill>
                  <a:srgbClr val="C05746"/>
                </a:solidFill>
                <a:latin typeface="Georgia"/>
              </a:rPr>
              <a:t>The same article, year by year</a:t>
            </a:r>
          </a:p>
        </p:txBody>
      </p:sp>
      <p:sp>
        <p:nvSpPr>
          <p:cNvPr id="13" name="TextBox 12"/>
          <p:cNvSpPr txBox="1"/>
          <p:nvPr/>
        </p:nvSpPr>
        <p:spPr>
          <a:xfrm>
            <a:off x="6598765" y="3003164"/>
            <a:ext cx="4705959" cy="1200329"/>
          </a:xfrm>
          <a:prstGeom prst="rect">
            <a:avLst/>
          </a:prstGeom>
          <a:noFill/>
        </p:spPr>
        <p:txBody>
          <a:bodyPr wrap="square" anchor="t">
            <a:spAutoFit/>
          </a:bodyPr>
          <a:lstStyle/>
          <a:p>
            <a:pPr algn="l"/>
            <a:r>
              <a:rPr b="1" i="0" dirty="0">
                <a:solidFill>
                  <a:srgbClr val="1F2933"/>
                </a:solidFill>
                <a:latin typeface="Calibri"/>
              </a:rPr>
              <a:t>One version per year, 2005 to 2025. </a:t>
            </a:r>
            <a:r>
              <a:rPr b="0" i="0" dirty="0">
                <a:solidFill>
                  <a:srgbClr val="1F2933"/>
                </a:solidFill>
                <a:latin typeface="Calibri"/>
              </a:rPr>
              <a:t>The revision history tells us which version existed when. Each carries a date, which is what a themes-over-time chart needs.</a:t>
            </a:r>
          </a:p>
        </p:txBody>
      </p:sp>
      <p:sp>
        <p:nvSpPr>
          <p:cNvPr id="14" name="TextBox 13"/>
          <p:cNvSpPr txBox="1"/>
          <p:nvPr/>
        </p:nvSpPr>
        <p:spPr>
          <a:xfrm>
            <a:off x="6598766" y="4243762"/>
            <a:ext cx="4705959" cy="369332"/>
          </a:xfrm>
          <a:prstGeom prst="rect">
            <a:avLst/>
          </a:prstGeom>
          <a:noFill/>
        </p:spPr>
        <p:txBody>
          <a:bodyPr wrap="square" anchor="t">
            <a:spAutoFit/>
          </a:bodyPr>
          <a:lstStyle/>
          <a:p>
            <a:pPr algn="l"/>
            <a:r>
              <a:rPr b="0" i="0" dirty="0">
                <a:solidFill>
                  <a:srgbClr val="667685"/>
                </a:solidFill>
                <a:latin typeface="Calibri"/>
              </a:rPr>
              <a:t>Part two asks: how has what it says changed?</a:t>
            </a:r>
          </a:p>
        </p:txBody>
      </p:sp>
      <p:sp>
        <p:nvSpPr>
          <p:cNvPr id="15" name="Rounded Rectangle 14"/>
          <p:cNvSpPr/>
          <p:nvPr/>
        </p:nvSpPr>
        <p:spPr>
          <a:xfrm>
            <a:off x="566928" y="5336373"/>
            <a:ext cx="11057839" cy="1263441"/>
          </a:xfrm>
          <a:prstGeom prst="roundRect">
            <a:avLst>
              <a:gd name="adj" fmla="val 6000"/>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66928" y="5336373"/>
            <a:ext cx="50292" cy="1263441"/>
          </a:xfrm>
          <a:prstGeom prst="rect">
            <a:avLst/>
          </a:prstGeom>
          <a:solidFill>
            <a:srgbClr val="C5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5614150"/>
            <a:ext cx="10417759" cy="707886"/>
          </a:xfrm>
          <a:prstGeom prst="rect">
            <a:avLst/>
          </a:prstGeom>
          <a:noFill/>
        </p:spPr>
        <p:txBody>
          <a:bodyPr wrap="square" anchor="ctr">
            <a:spAutoFit/>
          </a:bodyPr>
          <a:lstStyle/>
          <a:p>
            <a:pPr algn="just"/>
            <a:r>
              <a:rPr sz="2000" b="1" i="0" dirty="0">
                <a:solidFill>
                  <a:srgbClr val="8A5F14"/>
                </a:solidFill>
                <a:latin typeface="Calibri"/>
              </a:rPr>
              <a:t>First lesson of the day:  </a:t>
            </a:r>
            <a:r>
              <a:rPr sz="2000" b="0" i="0" dirty="0">
                <a:solidFill>
                  <a:srgbClr val="1F2933"/>
                </a:solidFill>
                <a:latin typeface="Calibri"/>
              </a:rPr>
              <a:t>match the data to the question before you build anything. A chart of change over time needs a time axis in the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3" name="Rectangle 2"/>
          <p:cNvSpPr/>
          <p:nvPr/>
        </p:nvSpPr>
        <p:spPr>
          <a:xfrm>
            <a:off x="0" y="0"/>
            <a:ext cx="146304"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TextBox 3"/>
          <p:cNvSpPr txBox="1"/>
          <p:nvPr/>
        </p:nvSpPr>
        <p:spPr>
          <a:xfrm>
            <a:off x="1005840" y="2514600"/>
            <a:ext cx="7315200" cy="400110"/>
          </a:xfrm>
          <a:prstGeom prst="rect">
            <a:avLst/>
          </a:prstGeom>
          <a:noFill/>
        </p:spPr>
        <p:txBody>
          <a:bodyPr wrap="square" anchor="t">
            <a:spAutoFit/>
          </a:bodyPr>
          <a:lstStyle/>
          <a:p>
            <a:pPr algn="l"/>
            <a:r>
              <a:rPr sz="2000" b="1" i="0">
                <a:solidFill>
                  <a:srgbClr val="9FC4D6"/>
                </a:solidFill>
                <a:latin typeface="Calibri"/>
              </a:rPr>
              <a:t>PART ONE</a:t>
            </a:r>
          </a:p>
        </p:txBody>
      </p:sp>
      <p:sp>
        <p:nvSpPr>
          <p:cNvPr id="5" name="TextBox 4"/>
          <p:cNvSpPr txBox="1"/>
          <p:nvPr/>
        </p:nvSpPr>
        <p:spPr>
          <a:xfrm>
            <a:off x="960120" y="2986935"/>
            <a:ext cx="10058400" cy="1015663"/>
          </a:xfrm>
          <a:prstGeom prst="rect">
            <a:avLst/>
          </a:prstGeom>
          <a:noFill/>
        </p:spPr>
        <p:txBody>
          <a:bodyPr wrap="square" anchor="t">
            <a:spAutoFit/>
          </a:bodyPr>
          <a:lstStyle/>
          <a:p>
            <a:pPr algn="l"/>
            <a:r>
              <a:rPr sz="6000" b="1" i="0" dirty="0">
                <a:solidFill>
                  <a:srgbClr val="FFFFFF"/>
                </a:solidFill>
                <a:latin typeface="Georgia"/>
              </a:rPr>
              <a:t>Knowledge graphs</a:t>
            </a:r>
          </a:p>
        </p:txBody>
      </p:sp>
      <p:sp>
        <p:nvSpPr>
          <p:cNvPr id="6" name="TextBox 5"/>
          <p:cNvSpPr txBox="1"/>
          <p:nvPr/>
        </p:nvSpPr>
        <p:spPr>
          <a:xfrm>
            <a:off x="1005840" y="4100001"/>
            <a:ext cx="9144000" cy="584775"/>
          </a:xfrm>
          <a:prstGeom prst="rect">
            <a:avLst/>
          </a:prstGeom>
          <a:noFill/>
        </p:spPr>
        <p:txBody>
          <a:bodyPr wrap="square" anchor="t">
            <a:spAutoFit/>
          </a:bodyPr>
          <a:lstStyle/>
          <a:p>
            <a:pPr algn="l"/>
            <a:r>
              <a:rPr sz="3200" b="0" i="0" dirty="0">
                <a:solidFill>
                  <a:srgbClr val="C9DCE7"/>
                </a:solidFill>
                <a:latin typeface="Calibri"/>
              </a:rPr>
              <a:t>From one article to a network of the things it names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98532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What is a knowledge graph?</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A network of the things a text names, and how they connect.</a:t>
            </a:r>
          </a:p>
        </p:txBody>
      </p:sp>
      <p:sp>
        <p:nvSpPr>
          <p:cNvPr id="5" name="Rounded Rectangle 4"/>
          <p:cNvSpPr/>
          <p:nvPr/>
        </p:nvSpPr>
        <p:spPr>
          <a:xfrm>
            <a:off x="566928" y="1792941"/>
            <a:ext cx="5971233" cy="446442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886968" y="2043331"/>
            <a:ext cx="4572000" cy="461665"/>
          </a:xfrm>
          <a:prstGeom prst="rect">
            <a:avLst/>
          </a:prstGeom>
          <a:noFill/>
        </p:spPr>
        <p:txBody>
          <a:bodyPr wrap="square" anchor="t">
            <a:spAutoFit/>
          </a:bodyPr>
          <a:lstStyle/>
          <a:p>
            <a:pPr algn="l"/>
            <a:r>
              <a:rPr sz="2400" b="1" i="0" dirty="0">
                <a:solidFill>
                  <a:srgbClr val="16324F"/>
                </a:solidFill>
                <a:latin typeface="Georgia"/>
              </a:rPr>
              <a:t>Two parts</a:t>
            </a:r>
          </a:p>
        </p:txBody>
      </p:sp>
      <p:sp>
        <p:nvSpPr>
          <p:cNvPr id="7" name="TextBox 6"/>
          <p:cNvSpPr txBox="1"/>
          <p:nvPr/>
        </p:nvSpPr>
        <p:spPr>
          <a:xfrm>
            <a:off x="886968" y="2740277"/>
            <a:ext cx="5331153" cy="707886"/>
          </a:xfrm>
          <a:prstGeom prst="rect">
            <a:avLst/>
          </a:prstGeom>
          <a:noFill/>
        </p:spPr>
        <p:txBody>
          <a:bodyPr wrap="square" anchor="t">
            <a:spAutoFit/>
          </a:bodyPr>
          <a:lstStyle/>
          <a:p>
            <a:pPr algn="l"/>
            <a:r>
              <a:rPr sz="2000" b="1" i="0" dirty="0">
                <a:solidFill>
                  <a:srgbClr val="0E7C86"/>
                </a:solidFill>
                <a:latin typeface="Calibri"/>
              </a:rPr>
              <a:t>Nodes</a:t>
            </a:r>
            <a:r>
              <a:rPr sz="2000" b="0" i="0" dirty="0">
                <a:solidFill>
                  <a:srgbClr val="1F2933"/>
                </a:solidFill>
                <a:latin typeface="Calibri"/>
              </a:rPr>
              <a:t> are things: people, places, </a:t>
            </a:r>
            <a:r>
              <a:rPr sz="2000" b="0" i="0" dirty="0" err="1">
                <a:solidFill>
                  <a:srgbClr val="1F2933"/>
                </a:solidFill>
                <a:latin typeface="Calibri"/>
              </a:rPr>
              <a:t>organisations</a:t>
            </a:r>
            <a:r>
              <a:rPr sz="2000" b="0" i="0" dirty="0">
                <a:solidFill>
                  <a:srgbClr val="1F2933"/>
                </a:solidFill>
                <a:latin typeface="Calibri"/>
              </a:rPr>
              <a:t>, events.</a:t>
            </a:r>
          </a:p>
        </p:txBody>
      </p:sp>
      <p:sp>
        <p:nvSpPr>
          <p:cNvPr id="8" name="TextBox 7"/>
          <p:cNvSpPr txBox="1"/>
          <p:nvPr/>
        </p:nvSpPr>
        <p:spPr>
          <a:xfrm>
            <a:off x="865278" y="3466497"/>
            <a:ext cx="5331153" cy="400110"/>
          </a:xfrm>
          <a:prstGeom prst="rect">
            <a:avLst/>
          </a:prstGeom>
          <a:noFill/>
        </p:spPr>
        <p:txBody>
          <a:bodyPr wrap="square" anchor="t">
            <a:spAutoFit/>
          </a:bodyPr>
          <a:lstStyle/>
          <a:p>
            <a:pPr algn="l"/>
            <a:r>
              <a:rPr sz="2000" b="1" i="0" dirty="0">
                <a:solidFill>
                  <a:srgbClr val="C05746"/>
                </a:solidFill>
                <a:latin typeface="Calibri"/>
              </a:rPr>
              <a:t>Edges</a:t>
            </a:r>
            <a:r>
              <a:rPr sz="2000" b="0" i="0" dirty="0">
                <a:solidFill>
                  <a:srgbClr val="1F2933"/>
                </a:solidFill>
                <a:latin typeface="Calibri"/>
              </a:rPr>
              <a:t> are relationships between them.</a:t>
            </a:r>
          </a:p>
        </p:txBody>
      </p:sp>
      <p:sp>
        <p:nvSpPr>
          <p:cNvPr id="9" name="TextBox 8"/>
          <p:cNvSpPr txBox="1"/>
          <p:nvPr/>
        </p:nvSpPr>
        <p:spPr>
          <a:xfrm>
            <a:off x="886968" y="4121076"/>
            <a:ext cx="4572000" cy="369332"/>
          </a:xfrm>
          <a:prstGeom prst="rect">
            <a:avLst/>
          </a:prstGeom>
          <a:noFill/>
        </p:spPr>
        <p:txBody>
          <a:bodyPr wrap="square" anchor="t">
            <a:spAutoFit/>
          </a:bodyPr>
          <a:lstStyle/>
          <a:p>
            <a:pPr algn="l"/>
            <a:r>
              <a:rPr b="0" i="1">
                <a:solidFill>
                  <a:srgbClr val="667685"/>
                </a:solidFill>
                <a:latin typeface="Calibri"/>
              </a:rPr>
              <a:t>Read an edge as a sentence:</a:t>
            </a:r>
          </a:p>
        </p:txBody>
      </p:sp>
      <p:sp>
        <p:nvSpPr>
          <p:cNvPr id="10" name="Rounded Rectangle 9"/>
          <p:cNvSpPr/>
          <p:nvPr/>
        </p:nvSpPr>
        <p:spPr>
          <a:xfrm>
            <a:off x="886968" y="4530761"/>
            <a:ext cx="5331153" cy="566928"/>
          </a:xfrm>
          <a:prstGeom prst="roundRect">
            <a:avLst>
              <a:gd name="adj" fmla="val 6000"/>
            </a:avLst>
          </a:prstGeom>
          <a:solidFill>
            <a:srgbClr val="FFFFFF"/>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978408" y="4629559"/>
            <a:ext cx="5148273" cy="369332"/>
          </a:xfrm>
          <a:prstGeom prst="rect">
            <a:avLst/>
          </a:prstGeom>
          <a:noFill/>
        </p:spPr>
        <p:txBody>
          <a:bodyPr wrap="square" anchor="ctr">
            <a:spAutoFit/>
          </a:bodyPr>
          <a:lstStyle/>
          <a:p>
            <a:pPr algn="l"/>
            <a:r>
              <a:rPr b="1" i="0">
                <a:solidFill>
                  <a:srgbClr val="C05746"/>
                </a:solidFill>
                <a:latin typeface="Consolas"/>
              </a:rPr>
              <a:t>Ojukwu</a:t>
            </a:r>
            <a:r>
              <a:rPr b="0" i="0">
                <a:solidFill>
                  <a:srgbClr val="667685"/>
                </a:solidFill>
                <a:latin typeface="Consolas"/>
              </a:rPr>
              <a:t>   →   </a:t>
            </a:r>
            <a:r>
              <a:rPr b="1" i="0">
                <a:solidFill>
                  <a:srgbClr val="0E7C86"/>
                </a:solidFill>
                <a:latin typeface="Consolas"/>
              </a:rPr>
              <a:t>led</a:t>
            </a:r>
            <a:r>
              <a:rPr b="0" i="0">
                <a:solidFill>
                  <a:srgbClr val="667685"/>
                </a:solidFill>
                <a:latin typeface="Consolas"/>
              </a:rPr>
              <a:t>   →   </a:t>
            </a:r>
            <a:r>
              <a:rPr b="1" i="0">
                <a:solidFill>
                  <a:srgbClr val="C05746"/>
                </a:solidFill>
                <a:latin typeface="Consolas"/>
              </a:rPr>
              <a:t>Biafra</a:t>
            </a:r>
          </a:p>
        </p:txBody>
      </p:sp>
      <p:sp>
        <p:nvSpPr>
          <p:cNvPr id="12" name="TextBox 11"/>
          <p:cNvSpPr txBox="1"/>
          <p:nvPr/>
        </p:nvSpPr>
        <p:spPr>
          <a:xfrm>
            <a:off x="886968" y="5246952"/>
            <a:ext cx="5331153" cy="707886"/>
          </a:xfrm>
          <a:prstGeom prst="rect">
            <a:avLst/>
          </a:prstGeom>
          <a:noFill/>
        </p:spPr>
        <p:txBody>
          <a:bodyPr wrap="square" anchor="t">
            <a:spAutoFit/>
          </a:bodyPr>
          <a:lstStyle/>
          <a:p>
            <a:pPr algn="l"/>
            <a:r>
              <a:rPr sz="2000" b="0" i="0" dirty="0">
                <a:solidFill>
                  <a:srgbClr val="667685"/>
                </a:solidFill>
                <a:latin typeface="Calibri"/>
              </a:rPr>
              <a:t>Three parts: subject, relation, object. This unit is called a triple.</a:t>
            </a:r>
          </a:p>
        </p:txBody>
      </p:sp>
      <p:sp>
        <p:nvSpPr>
          <p:cNvPr id="13" name="Rounded Rectangle 12"/>
          <p:cNvSpPr/>
          <p:nvPr/>
        </p:nvSpPr>
        <p:spPr>
          <a:xfrm>
            <a:off x="6980474" y="1792941"/>
            <a:ext cx="4644292" cy="4464424"/>
          </a:xfrm>
          <a:prstGeom prst="roundRect">
            <a:avLst>
              <a:gd name="adj" fmla="val 6000"/>
            </a:avLst>
          </a:prstGeom>
          <a:solidFill>
            <a:srgbClr val="E8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7300514" y="2042435"/>
            <a:ext cx="4206240" cy="461665"/>
          </a:xfrm>
          <a:prstGeom prst="rect">
            <a:avLst/>
          </a:prstGeom>
          <a:noFill/>
        </p:spPr>
        <p:txBody>
          <a:bodyPr wrap="square" anchor="t">
            <a:spAutoFit/>
          </a:bodyPr>
          <a:lstStyle/>
          <a:p>
            <a:pPr algn="l"/>
            <a:r>
              <a:rPr sz="2400" b="1" i="0" dirty="0">
                <a:solidFill>
                  <a:srgbClr val="16324F"/>
                </a:solidFill>
                <a:latin typeface="Georgia"/>
              </a:rPr>
              <a:t>Why it is useful</a:t>
            </a:r>
          </a:p>
        </p:txBody>
      </p:sp>
      <p:sp>
        <p:nvSpPr>
          <p:cNvPr id="15" name="TextBox 14"/>
          <p:cNvSpPr txBox="1"/>
          <p:nvPr/>
        </p:nvSpPr>
        <p:spPr>
          <a:xfrm>
            <a:off x="7300514" y="2782287"/>
            <a:ext cx="4004212" cy="707886"/>
          </a:xfrm>
          <a:prstGeom prst="rect">
            <a:avLst/>
          </a:prstGeom>
          <a:noFill/>
        </p:spPr>
        <p:txBody>
          <a:bodyPr wrap="square" anchor="t">
            <a:spAutoFit/>
          </a:bodyPr>
          <a:lstStyle/>
          <a:p>
            <a:pPr algn="just"/>
            <a:r>
              <a:rPr sz="2000" b="1" i="0" dirty="0">
                <a:solidFill>
                  <a:srgbClr val="2C4A63"/>
                </a:solidFill>
                <a:latin typeface="Calibri"/>
              </a:rPr>
              <a:t>Reading is linear. </a:t>
            </a:r>
            <a:r>
              <a:rPr sz="2000" b="0" i="0" dirty="0">
                <a:solidFill>
                  <a:srgbClr val="1F2933"/>
                </a:solidFill>
                <a:latin typeface="Calibri"/>
              </a:rPr>
              <a:t>A graph shows the whole structure at once.</a:t>
            </a:r>
          </a:p>
        </p:txBody>
      </p:sp>
      <p:sp>
        <p:nvSpPr>
          <p:cNvPr id="16" name="TextBox 15"/>
          <p:cNvSpPr txBox="1"/>
          <p:nvPr/>
        </p:nvSpPr>
        <p:spPr>
          <a:xfrm>
            <a:off x="7322510" y="3808720"/>
            <a:ext cx="4004212" cy="707886"/>
          </a:xfrm>
          <a:prstGeom prst="rect">
            <a:avLst/>
          </a:prstGeom>
          <a:noFill/>
        </p:spPr>
        <p:txBody>
          <a:bodyPr wrap="square" anchor="t">
            <a:spAutoFit/>
          </a:bodyPr>
          <a:lstStyle/>
          <a:p>
            <a:pPr algn="l"/>
            <a:r>
              <a:rPr sz="2000" b="1" i="0" dirty="0">
                <a:solidFill>
                  <a:srgbClr val="2C4A63"/>
                </a:solidFill>
                <a:latin typeface="Calibri"/>
              </a:rPr>
              <a:t>You can see </a:t>
            </a:r>
            <a:r>
              <a:rPr sz="2000" b="0" i="0" dirty="0">
                <a:solidFill>
                  <a:srgbClr val="1F2933"/>
                </a:solidFill>
                <a:latin typeface="Calibri"/>
              </a:rPr>
              <a:t>which things are central, and what clusters together.</a:t>
            </a:r>
          </a:p>
        </p:txBody>
      </p:sp>
      <p:sp>
        <p:nvSpPr>
          <p:cNvPr id="17" name="TextBox 16"/>
          <p:cNvSpPr txBox="1"/>
          <p:nvPr/>
        </p:nvSpPr>
        <p:spPr>
          <a:xfrm>
            <a:off x="7322510" y="4724580"/>
            <a:ext cx="4004212" cy="1323439"/>
          </a:xfrm>
          <a:prstGeom prst="rect">
            <a:avLst/>
          </a:prstGeom>
          <a:noFill/>
        </p:spPr>
        <p:txBody>
          <a:bodyPr wrap="square" anchor="t">
            <a:spAutoFit/>
          </a:bodyPr>
          <a:lstStyle/>
          <a:p>
            <a:pPr algn="just"/>
            <a:r>
              <a:rPr sz="2000" b="1" i="0" dirty="0">
                <a:solidFill>
                  <a:srgbClr val="2C4A63"/>
                </a:solidFill>
                <a:latin typeface="Calibri"/>
              </a:rPr>
              <a:t>It is used for </a:t>
            </a:r>
            <a:r>
              <a:rPr sz="2000" b="0" i="0" dirty="0">
                <a:solidFill>
                  <a:srgbClr val="1F2933"/>
                </a:solidFill>
                <a:latin typeface="Calibri"/>
              </a:rPr>
              <a:t>influence in policy documents, drug and disease links in medical papers, who did what in news coverage.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98532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Method A: counting words</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The traditional approach. No language model involved.</a:t>
            </a:r>
          </a:p>
        </p:txBody>
      </p:sp>
      <p:sp>
        <p:nvSpPr>
          <p:cNvPr id="5" name="Rounded Rectangle 4"/>
          <p:cNvSpPr/>
          <p:nvPr/>
        </p:nvSpPr>
        <p:spPr>
          <a:xfrm>
            <a:off x="566928" y="1725703"/>
            <a:ext cx="2661589" cy="3175042"/>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Oval 5"/>
          <p:cNvSpPr/>
          <p:nvPr/>
        </p:nvSpPr>
        <p:spPr>
          <a:xfrm>
            <a:off x="822960" y="1981735"/>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013626"/>
            <a:ext cx="402336" cy="338554"/>
          </a:xfrm>
          <a:prstGeom prst="rect">
            <a:avLst/>
          </a:prstGeom>
          <a:noFill/>
        </p:spPr>
        <p:txBody>
          <a:bodyPr wrap="square" anchor="ctr">
            <a:spAutoFit/>
          </a:bodyPr>
          <a:lstStyle/>
          <a:p>
            <a:pPr algn="ctr"/>
            <a:r>
              <a:rPr sz="1600" b="1" i="0">
                <a:solidFill>
                  <a:srgbClr val="FFFFFF"/>
                </a:solidFill>
                <a:latin typeface="Georgia"/>
              </a:rPr>
              <a:t>1</a:t>
            </a:r>
          </a:p>
        </p:txBody>
      </p:sp>
      <p:sp>
        <p:nvSpPr>
          <p:cNvPr id="8" name="TextBox 7"/>
          <p:cNvSpPr txBox="1"/>
          <p:nvPr/>
        </p:nvSpPr>
        <p:spPr>
          <a:xfrm>
            <a:off x="822960" y="2502943"/>
            <a:ext cx="2149525" cy="461665"/>
          </a:xfrm>
          <a:prstGeom prst="rect">
            <a:avLst/>
          </a:prstGeom>
          <a:noFill/>
        </p:spPr>
        <p:txBody>
          <a:bodyPr wrap="square" anchor="t">
            <a:spAutoFit/>
          </a:bodyPr>
          <a:lstStyle/>
          <a:p>
            <a:pPr algn="l"/>
            <a:r>
              <a:rPr sz="2400" b="1" i="0">
                <a:solidFill>
                  <a:srgbClr val="16324F"/>
                </a:solidFill>
                <a:latin typeface="Georgia"/>
              </a:rPr>
              <a:t>Split</a:t>
            </a:r>
          </a:p>
        </p:txBody>
      </p:sp>
      <p:sp>
        <p:nvSpPr>
          <p:cNvPr id="9" name="TextBox 8"/>
          <p:cNvSpPr txBox="1"/>
          <p:nvPr/>
        </p:nvSpPr>
        <p:spPr>
          <a:xfrm>
            <a:off x="822960" y="3056779"/>
            <a:ext cx="2149525" cy="1015663"/>
          </a:xfrm>
          <a:prstGeom prst="rect">
            <a:avLst/>
          </a:prstGeom>
          <a:noFill/>
        </p:spPr>
        <p:txBody>
          <a:bodyPr wrap="square" anchor="t">
            <a:spAutoFit/>
          </a:bodyPr>
          <a:lstStyle/>
          <a:p>
            <a:pPr algn="l"/>
            <a:r>
              <a:rPr sz="2000" b="0" i="0">
                <a:solidFill>
                  <a:srgbClr val="667685"/>
                </a:solidFill>
                <a:latin typeface="Calibri"/>
              </a:rPr>
              <a:t>Break the article into sentences, then into words.</a:t>
            </a:r>
          </a:p>
        </p:txBody>
      </p:sp>
      <p:sp>
        <p:nvSpPr>
          <p:cNvPr id="10" name="Rounded Rectangle 9"/>
          <p:cNvSpPr/>
          <p:nvPr/>
        </p:nvSpPr>
        <p:spPr>
          <a:xfrm>
            <a:off x="3365677" y="1725703"/>
            <a:ext cx="2661589" cy="3175042"/>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Oval 10"/>
          <p:cNvSpPr/>
          <p:nvPr/>
        </p:nvSpPr>
        <p:spPr>
          <a:xfrm>
            <a:off x="3621709" y="1981735"/>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21709" y="2013626"/>
            <a:ext cx="402336" cy="338554"/>
          </a:xfrm>
          <a:prstGeom prst="rect">
            <a:avLst/>
          </a:prstGeom>
          <a:noFill/>
        </p:spPr>
        <p:txBody>
          <a:bodyPr wrap="square" anchor="ctr">
            <a:spAutoFit/>
          </a:bodyPr>
          <a:lstStyle/>
          <a:p>
            <a:pPr algn="ctr"/>
            <a:r>
              <a:rPr sz="1600" b="1" i="0">
                <a:solidFill>
                  <a:srgbClr val="FFFFFF"/>
                </a:solidFill>
                <a:latin typeface="Georgia"/>
              </a:rPr>
              <a:t>2</a:t>
            </a:r>
          </a:p>
        </p:txBody>
      </p:sp>
      <p:sp>
        <p:nvSpPr>
          <p:cNvPr id="13" name="TextBox 12"/>
          <p:cNvSpPr txBox="1"/>
          <p:nvPr/>
        </p:nvSpPr>
        <p:spPr>
          <a:xfrm>
            <a:off x="3621709" y="2502943"/>
            <a:ext cx="2149525" cy="461665"/>
          </a:xfrm>
          <a:prstGeom prst="rect">
            <a:avLst/>
          </a:prstGeom>
          <a:noFill/>
        </p:spPr>
        <p:txBody>
          <a:bodyPr wrap="square" anchor="t">
            <a:spAutoFit/>
          </a:bodyPr>
          <a:lstStyle/>
          <a:p>
            <a:pPr algn="l"/>
            <a:r>
              <a:rPr sz="2400" b="1" i="0">
                <a:solidFill>
                  <a:srgbClr val="16324F"/>
                </a:solidFill>
                <a:latin typeface="Georgia"/>
              </a:rPr>
              <a:t>Clean</a:t>
            </a:r>
          </a:p>
        </p:txBody>
      </p:sp>
      <p:sp>
        <p:nvSpPr>
          <p:cNvPr id="14" name="TextBox 13"/>
          <p:cNvSpPr txBox="1"/>
          <p:nvPr/>
        </p:nvSpPr>
        <p:spPr>
          <a:xfrm>
            <a:off x="3621709" y="3056779"/>
            <a:ext cx="2149525" cy="1323439"/>
          </a:xfrm>
          <a:prstGeom prst="rect">
            <a:avLst/>
          </a:prstGeom>
          <a:noFill/>
        </p:spPr>
        <p:txBody>
          <a:bodyPr wrap="square" anchor="t">
            <a:spAutoFit/>
          </a:bodyPr>
          <a:lstStyle/>
          <a:p>
            <a:pPr algn="l"/>
            <a:r>
              <a:rPr sz="2000" b="0" i="0">
                <a:solidFill>
                  <a:srgbClr val="667685"/>
                </a:solidFill>
                <a:latin typeface="Calibri"/>
              </a:rPr>
              <a:t>Drop the, of, and. Words that appear everywhere carry no signal.</a:t>
            </a:r>
          </a:p>
        </p:txBody>
      </p:sp>
      <p:sp>
        <p:nvSpPr>
          <p:cNvPr id="15" name="Rounded Rectangle 14"/>
          <p:cNvSpPr/>
          <p:nvPr/>
        </p:nvSpPr>
        <p:spPr>
          <a:xfrm>
            <a:off x="6164427" y="1725703"/>
            <a:ext cx="2661589" cy="3175042"/>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6" name="Oval 15"/>
          <p:cNvSpPr/>
          <p:nvPr/>
        </p:nvSpPr>
        <p:spPr>
          <a:xfrm>
            <a:off x="6420459" y="1981735"/>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20459" y="2013626"/>
            <a:ext cx="402336" cy="338554"/>
          </a:xfrm>
          <a:prstGeom prst="rect">
            <a:avLst/>
          </a:prstGeom>
          <a:noFill/>
        </p:spPr>
        <p:txBody>
          <a:bodyPr wrap="square" anchor="ctr">
            <a:spAutoFit/>
          </a:bodyPr>
          <a:lstStyle/>
          <a:p>
            <a:pPr algn="ctr"/>
            <a:r>
              <a:rPr sz="1600" b="1" i="0">
                <a:solidFill>
                  <a:srgbClr val="FFFFFF"/>
                </a:solidFill>
                <a:latin typeface="Georgia"/>
              </a:rPr>
              <a:t>3</a:t>
            </a:r>
          </a:p>
        </p:txBody>
      </p:sp>
      <p:sp>
        <p:nvSpPr>
          <p:cNvPr id="18" name="TextBox 17"/>
          <p:cNvSpPr txBox="1"/>
          <p:nvPr/>
        </p:nvSpPr>
        <p:spPr>
          <a:xfrm>
            <a:off x="6420459" y="2502943"/>
            <a:ext cx="2149525" cy="461665"/>
          </a:xfrm>
          <a:prstGeom prst="rect">
            <a:avLst/>
          </a:prstGeom>
          <a:noFill/>
        </p:spPr>
        <p:txBody>
          <a:bodyPr wrap="square" anchor="t">
            <a:spAutoFit/>
          </a:bodyPr>
          <a:lstStyle/>
          <a:p>
            <a:pPr algn="l"/>
            <a:r>
              <a:rPr sz="2400" b="1" i="0">
                <a:solidFill>
                  <a:srgbClr val="16324F"/>
                </a:solidFill>
                <a:latin typeface="Georgia"/>
              </a:rPr>
              <a:t>Pair</a:t>
            </a:r>
          </a:p>
        </p:txBody>
      </p:sp>
      <p:sp>
        <p:nvSpPr>
          <p:cNvPr id="19" name="TextBox 18"/>
          <p:cNvSpPr txBox="1"/>
          <p:nvPr/>
        </p:nvSpPr>
        <p:spPr>
          <a:xfrm>
            <a:off x="6420459" y="3056779"/>
            <a:ext cx="2149525" cy="1323439"/>
          </a:xfrm>
          <a:prstGeom prst="rect">
            <a:avLst/>
          </a:prstGeom>
          <a:noFill/>
        </p:spPr>
        <p:txBody>
          <a:bodyPr wrap="square" anchor="t">
            <a:spAutoFit/>
          </a:bodyPr>
          <a:lstStyle/>
          <a:p>
            <a:pPr algn="l"/>
            <a:r>
              <a:rPr sz="2000" b="0" i="0">
                <a:solidFill>
                  <a:srgbClr val="667685"/>
                </a:solidFill>
                <a:latin typeface="Calibri"/>
              </a:rPr>
              <a:t>Two words sharing a sentence get an edge. Count how often.</a:t>
            </a:r>
          </a:p>
        </p:txBody>
      </p:sp>
      <p:sp>
        <p:nvSpPr>
          <p:cNvPr id="20" name="Rounded Rectangle 19"/>
          <p:cNvSpPr/>
          <p:nvPr/>
        </p:nvSpPr>
        <p:spPr>
          <a:xfrm>
            <a:off x="8963177" y="1725703"/>
            <a:ext cx="2661589" cy="3175042"/>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1" name="Oval 20"/>
          <p:cNvSpPr/>
          <p:nvPr/>
        </p:nvSpPr>
        <p:spPr>
          <a:xfrm>
            <a:off x="9219209" y="1981735"/>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219209" y="2013626"/>
            <a:ext cx="402336" cy="338554"/>
          </a:xfrm>
          <a:prstGeom prst="rect">
            <a:avLst/>
          </a:prstGeom>
          <a:noFill/>
        </p:spPr>
        <p:txBody>
          <a:bodyPr wrap="square" anchor="ctr">
            <a:spAutoFit/>
          </a:bodyPr>
          <a:lstStyle/>
          <a:p>
            <a:pPr algn="ctr"/>
            <a:r>
              <a:rPr sz="1600" b="1" i="0">
                <a:solidFill>
                  <a:srgbClr val="FFFFFF"/>
                </a:solidFill>
                <a:latin typeface="Georgia"/>
              </a:rPr>
              <a:t>4</a:t>
            </a:r>
          </a:p>
        </p:txBody>
      </p:sp>
      <p:sp>
        <p:nvSpPr>
          <p:cNvPr id="23" name="TextBox 22"/>
          <p:cNvSpPr txBox="1"/>
          <p:nvPr/>
        </p:nvSpPr>
        <p:spPr>
          <a:xfrm>
            <a:off x="9219209" y="2502943"/>
            <a:ext cx="2149525" cy="461665"/>
          </a:xfrm>
          <a:prstGeom prst="rect">
            <a:avLst/>
          </a:prstGeom>
          <a:noFill/>
        </p:spPr>
        <p:txBody>
          <a:bodyPr wrap="square" anchor="t">
            <a:spAutoFit/>
          </a:bodyPr>
          <a:lstStyle/>
          <a:p>
            <a:pPr algn="l"/>
            <a:r>
              <a:rPr sz="2400" b="1" i="0">
                <a:solidFill>
                  <a:srgbClr val="16324F"/>
                </a:solidFill>
                <a:latin typeface="Georgia"/>
              </a:rPr>
              <a:t>Draw</a:t>
            </a:r>
          </a:p>
        </p:txBody>
      </p:sp>
      <p:sp>
        <p:nvSpPr>
          <p:cNvPr id="24" name="TextBox 23"/>
          <p:cNvSpPr txBox="1"/>
          <p:nvPr/>
        </p:nvSpPr>
        <p:spPr>
          <a:xfrm>
            <a:off x="9219209" y="3056779"/>
            <a:ext cx="2149525" cy="1631216"/>
          </a:xfrm>
          <a:prstGeom prst="rect">
            <a:avLst/>
          </a:prstGeom>
          <a:noFill/>
        </p:spPr>
        <p:txBody>
          <a:bodyPr wrap="square" anchor="t">
            <a:spAutoFit/>
          </a:bodyPr>
          <a:lstStyle/>
          <a:p>
            <a:pPr algn="l"/>
            <a:r>
              <a:rPr sz="2000" b="0" i="0">
                <a:solidFill>
                  <a:srgbClr val="667685"/>
                </a:solidFill>
                <a:latin typeface="Calibri"/>
              </a:rPr>
              <a:t>Words become nodes, pairs become edges. Thicker means more often.</a:t>
            </a:r>
          </a:p>
        </p:txBody>
      </p:sp>
      <p:sp>
        <p:nvSpPr>
          <p:cNvPr id="25" name="Rounded Rectangle 24"/>
          <p:cNvSpPr/>
          <p:nvPr/>
        </p:nvSpPr>
        <p:spPr>
          <a:xfrm>
            <a:off x="566928" y="5339045"/>
            <a:ext cx="11057839" cy="1303800"/>
          </a:xfrm>
          <a:prstGeom prst="roundRect">
            <a:avLst>
              <a:gd name="adj" fmla="val 6000"/>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Rectangle 25"/>
          <p:cNvSpPr/>
          <p:nvPr/>
        </p:nvSpPr>
        <p:spPr>
          <a:xfrm>
            <a:off x="566928" y="5339045"/>
            <a:ext cx="50292" cy="1303800"/>
          </a:xfrm>
          <a:prstGeom prst="rect">
            <a:avLst/>
          </a:prstGeom>
          <a:solidFill>
            <a:srgbClr val="C5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686485" y="5341398"/>
            <a:ext cx="4572000" cy="461665"/>
          </a:xfrm>
          <a:prstGeom prst="rect">
            <a:avLst/>
          </a:prstGeom>
          <a:noFill/>
        </p:spPr>
        <p:txBody>
          <a:bodyPr wrap="square" anchor="t">
            <a:spAutoFit/>
          </a:bodyPr>
          <a:lstStyle/>
          <a:p>
            <a:pPr algn="l"/>
            <a:r>
              <a:rPr sz="2400" b="1" i="0" dirty="0">
                <a:solidFill>
                  <a:srgbClr val="8A5F14"/>
                </a:solidFill>
                <a:latin typeface="Calibri"/>
              </a:rPr>
              <a:t>The setting to change live</a:t>
            </a:r>
          </a:p>
        </p:txBody>
      </p:sp>
      <p:sp>
        <p:nvSpPr>
          <p:cNvPr id="28" name="TextBox 27"/>
          <p:cNvSpPr txBox="1"/>
          <p:nvPr/>
        </p:nvSpPr>
        <p:spPr>
          <a:xfrm>
            <a:off x="729233" y="5784643"/>
            <a:ext cx="10733227" cy="707886"/>
          </a:xfrm>
          <a:prstGeom prst="rect">
            <a:avLst/>
          </a:prstGeom>
          <a:noFill/>
        </p:spPr>
        <p:txBody>
          <a:bodyPr wrap="square" anchor="t">
            <a:spAutoFit/>
          </a:bodyPr>
          <a:lstStyle/>
          <a:p>
            <a:pPr algn="just"/>
            <a:r>
              <a:rPr sz="2000" b="0" i="0" dirty="0">
                <a:solidFill>
                  <a:srgbClr val="1F2933"/>
                </a:solidFill>
                <a:latin typeface="Calibri"/>
              </a:rPr>
              <a:t>Raise the minimum edge count and the tangle clears. The text did not change, only your choice did. Every network figure contains decisions like this, usually undisclosed.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The code, in outline</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What each stage does. The full script is 02_cooccurrence_graph.R.</a:t>
            </a:r>
          </a:p>
        </p:txBody>
      </p:sp>
      <p:sp>
        <p:nvSpPr>
          <p:cNvPr id="5" name="Rounded Rectangle 4"/>
          <p:cNvSpPr/>
          <p:nvPr/>
        </p:nvSpPr>
        <p:spPr>
          <a:xfrm>
            <a:off x="556860" y="1836149"/>
            <a:ext cx="11057839" cy="4745736"/>
          </a:xfrm>
          <a:prstGeom prst="roundRect">
            <a:avLst>
              <a:gd name="adj" fmla="val 6000"/>
            </a:avLst>
          </a:prstGeom>
          <a:solidFill>
            <a:srgbClr val="12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4" y="2014249"/>
            <a:ext cx="10598792" cy="4389535"/>
          </a:xfrm>
          <a:prstGeom prst="rect">
            <a:avLst/>
          </a:prstGeom>
          <a:noFill/>
        </p:spPr>
        <p:txBody>
          <a:bodyPr wrap="square">
            <a:spAutoFit/>
          </a:bodyPr>
          <a:lstStyle/>
          <a:p>
            <a:pPr>
              <a:lnSpc>
                <a:spcPct val="118000"/>
              </a:lnSpc>
            </a:pPr>
            <a:r>
              <a:rPr sz="1250" dirty="0">
                <a:solidFill>
                  <a:srgbClr val="7FB8C4"/>
                </a:solidFill>
                <a:latin typeface="Consolas"/>
              </a:rPr>
              <a:t># 1. one row per word, sentence by sentence</a:t>
            </a:r>
          </a:p>
          <a:p>
            <a:pPr>
              <a:lnSpc>
                <a:spcPct val="118000"/>
              </a:lnSpc>
            </a:pPr>
            <a:r>
              <a:rPr sz="1250" dirty="0">
                <a:solidFill>
                  <a:srgbClr val="DCE6EE"/>
                </a:solidFill>
                <a:latin typeface="Consolas"/>
              </a:rPr>
              <a:t>words &lt;- article %&gt;%</a:t>
            </a:r>
          </a:p>
          <a:p>
            <a:pPr>
              <a:lnSpc>
                <a:spcPct val="118000"/>
              </a:lnSpc>
            </a:pPr>
            <a:r>
              <a:rPr sz="1250" dirty="0">
                <a:solidFill>
                  <a:srgbClr val="DCE6EE"/>
                </a:solidFill>
                <a:latin typeface="Consolas"/>
              </a:rPr>
              <a:t>  </a:t>
            </a:r>
            <a:r>
              <a:rPr sz="1250" dirty="0" err="1">
                <a:solidFill>
                  <a:srgbClr val="DCE6EE"/>
                </a:solidFill>
                <a:latin typeface="Consolas"/>
              </a:rPr>
              <a:t>unnest_tokens</a:t>
            </a:r>
            <a:r>
              <a:rPr sz="1250" dirty="0">
                <a:solidFill>
                  <a:srgbClr val="DCE6EE"/>
                </a:solidFill>
                <a:latin typeface="Consolas"/>
              </a:rPr>
              <a:t>(sentence, text, token = "sentences") %&gt;%</a:t>
            </a:r>
          </a:p>
          <a:p>
            <a:pPr>
              <a:lnSpc>
                <a:spcPct val="118000"/>
              </a:lnSpc>
            </a:pPr>
            <a:r>
              <a:rPr sz="1250" dirty="0">
                <a:solidFill>
                  <a:srgbClr val="DCE6EE"/>
                </a:solidFill>
                <a:latin typeface="Consolas"/>
              </a:rPr>
              <a:t>  mutate(</a:t>
            </a:r>
            <a:r>
              <a:rPr sz="1250" dirty="0" err="1">
                <a:solidFill>
                  <a:srgbClr val="DCE6EE"/>
                </a:solidFill>
                <a:latin typeface="Consolas"/>
              </a:rPr>
              <a:t>sent_id</a:t>
            </a:r>
            <a:r>
              <a:rPr sz="1250" dirty="0">
                <a:solidFill>
                  <a:srgbClr val="DCE6EE"/>
                </a:solidFill>
                <a:latin typeface="Consolas"/>
              </a:rPr>
              <a:t> = </a:t>
            </a:r>
            <a:r>
              <a:rPr sz="1250" dirty="0" err="1">
                <a:solidFill>
                  <a:srgbClr val="DCE6EE"/>
                </a:solidFill>
                <a:latin typeface="Consolas"/>
              </a:rPr>
              <a:t>row_number</a:t>
            </a:r>
            <a:r>
              <a:rPr sz="1250" dirty="0">
                <a:solidFill>
                  <a:srgbClr val="DCE6EE"/>
                </a:solidFill>
                <a:latin typeface="Consolas"/>
              </a:rPr>
              <a:t>()) %&gt;%</a:t>
            </a:r>
          </a:p>
          <a:p>
            <a:pPr>
              <a:lnSpc>
                <a:spcPct val="118000"/>
              </a:lnSpc>
            </a:pPr>
            <a:r>
              <a:rPr sz="1250" dirty="0">
                <a:solidFill>
                  <a:srgbClr val="DCE6EE"/>
                </a:solidFill>
                <a:latin typeface="Consolas"/>
              </a:rPr>
              <a:t>  </a:t>
            </a:r>
            <a:r>
              <a:rPr sz="1250" dirty="0" err="1">
                <a:solidFill>
                  <a:srgbClr val="DCE6EE"/>
                </a:solidFill>
                <a:latin typeface="Consolas"/>
              </a:rPr>
              <a:t>unnest_tokens</a:t>
            </a:r>
            <a:r>
              <a:rPr sz="1250" dirty="0">
                <a:solidFill>
                  <a:srgbClr val="DCE6EE"/>
                </a:solidFill>
                <a:latin typeface="Consolas"/>
              </a:rPr>
              <a:t>(word, sentence) %&gt;%</a:t>
            </a:r>
          </a:p>
          <a:p>
            <a:pPr>
              <a:lnSpc>
                <a:spcPct val="118000"/>
              </a:lnSpc>
            </a:pPr>
            <a:r>
              <a:rPr sz="1250" dirty="0">
                <a:solidFill>
                  <a:srgbClr val="DCE6EE"/>
                </a:solidFill>
                <a:latin typeface="Consolas"/>
              </a:rPr>
              <a:t>  </a:t>
            </a:r>
            <a:r>
              <a:rPr sz="1250" dirty="0" err="1">
                <a:solidFill>
                  <a:srgbClr val="DCE6EE"/>
                </a:solidFill>
                <a:latin typeface="Consolas"/>
              </a:rPr>
              <a:t>anti_join</a:t>
            </a:r>
            <a:r>
              <a:rPr sz="1250" dirty="0">
                <a:solidFill>
                  <a:srgbClr val="DCE6EE"/>
                </a:solidFill>
                <a:latin typeface="Consolas"/>
              </a:rPr>
              <a:t>(</a:t>
            </a:r>
            <a:r>
              <a:rPr sz="1250" dirty="0" err="1">
                <a:solidFill>
                  <a:srgbClr val="DCE6EE"/>
                </a:solidFill>
                <a:latin typeface="Consolas"/>
              </a:rPr>
              <a:t>get_stopwords</a:t>
            </a:r>
            <a:r>
              <a:rPr sz="1250" dirty="0">
                <a:solidFill>
                  <a:srgbClr val="DCE6EE"/>
                </a:solidFill>
                <a:latin typeface="Consolas"/>
              </a:rPr>
              <a:t>())          # drop the, of, and ...</a:t>
            </a:r>
          </a:p>
          <a:p>
            <a:pPr>
              <a:lnSpc>
                <a:spcPct val="118000"/>
              </a:lnSpc>
            </a:pPr>
            <a:r>
              <a:rPr sz="1250" dirty="0">
                <a:solidFill>
                  <a:srgbClr val="DCE6EE"/>
                </a:solidFill>
                <a:latin typeface="Consolas"/>
              </a:rPr>
              <a:t> </a:t>
            </a:r>
          </a:p>
          <a:p>
            <a:pPr>
              <a:lnSpc>
                <a:spcPct val="118000"/>
              </a:lnSpc>
            </a:pPr>
            <a:r>
              <a:rPr sz="1250" dirty="0">
                <a:solidFill>
                  <a:srgbClr val="7FB8C4"/>
                </a:solidFill>
                <a:latin typeface="Consolas"/>
              </a:rPr>
              <a:t># 2. count pairs that share a sentence</a:t>
            </a:r>
          </a:p>
          <a:p>
            <a:pPr>
              <a:lnSpc>
                <a:spcPct val="118000"/>
              </a:lnSpc>
            </a:pPr>
            <a:r>
              <a:rPr sz="1250" dirty="0">
                <a:solidFill>
                  <a:srgbClr val="DCE6EE"/>
                </a:solidFill>
                <a:latin typeface="Consolas"/>
              </a:rPr>
              <a:t>pairs &lt;- words %&gt;%</a:t>
            </a:r>
          </a:p>
          <a:p>
            <a:pPr>
              <a:lnSpc>
                <a:spcPct val="118000"/>
              </a:lnSpc>
            </a:pPr>
            <a:r>
              <a:rPr sz="1250" dirty="0">
                <a:solidFill>
                  <a:srgbClr val="DCE6EE"/>
                </a:solidFill>
                <a:latin typeface="Consolas"/>
              </a:rPr>
              <a:t>  </a:t>
            </a:r>
            <a:r>
              <a:rPr sz="1250" dirty="0" err="1">
                <a:solidFill>
                  <a:srgbClr val="DCE6EE"/>
                </a:solidFill>
                <a:latin typeface="Consolas"/>
              </a:rPr>
              <a:t>pairwise_count</a:t>
            </a:r>
            <a:r>
              <a:rPr sz="1250" dirty="0">
                <a:solidFill>
                  <a:srgbClr val="DCE6EE"/>
                </a:solidFill>
                <a:latin typeface="Consolas"/>
              </a:rPr>
              <a:t>(word, </a:t>
            </a:r>
            <a:r>
              <a:rPr sz="1250" dirty="0" err="1">
                <a:solidFill>
                  <a:srgbClr val="DCE6EE"/>
                </a:solidFill>
                <a:latin typeface="Consolas"/>
              </a:rPr>
              <a:t>sent_id</a:t>
            </a:r>
            <a:r>
              <a:rPr sz="1250" dirty="0">
                <a:solidFill>
                  <a:srgbClr val="DCE6EE"/>
                </a:solidFill>
                <a:latin typeface="Consolas"/>
              </a:rPr>
              <a:t>)       # </a:t>
            </a:r>
            <a:r>
              <a:rPr sz="1250" dirty="0" err="1">
                <a:solidFill>
                  <a:srgbClr val="DCE6EE"/>
                </a:solidFill>
                <a:latin typeface="Consolas"/>
              </a:rPr>
              <a:t>widyr</a:t>
            </a:r>
            <a:endParaRPr sz="1250" dirty="0">
              <a:solidFill>
                <a:srgbClr val="DCE6EE"/>
              </a:solidFill>
              <a:latin typeface="Consolas"/>
            </a:endParaRPr>
          </a:p>
          <a:p>
            <a:pPr>
              <a:lnSpc>
                <a:spcPct val="118000"/>
              </a:lnSpc>
            </a:pPr>
            <a:r>
              <a:rPr sz="1250" dirty="0">
                <a:solidFill>
                  <a:srgbClr val="DCE6EE"/>
                </a:solidFill>
                <a:latin typeface="Consolas"/>
              </a:rPr>
              <a:t> </a:t>
            </a:r>
          </a:p>
          <a:p>
            <a:pPr>
              <a:lnSpc>
                <a:spcPct val="118000"/>
              </a:lnSpc>
            </a:pPr>
            <a:r>
              <a:rPr sz="1250" dirty="0">
                <a:solidFill>
                  <a:srgbClr val="7FB8C4"/>
                </a:solidFill>
                <a:latin typeface="Consolas"/>
              </a:rPr>
              <a:t># 3. build the graph and draw it</a:t>
            </a:r>
          </a:p>
          <a:p>
            <a:pPr>
              <a:lnSpc>
                <a:spcPct val="118000"/>
              </a:lnSpc>
            </a:pPr>
            <a:r>
              <a:rPr sz="1250" dirty="0">
                <a:solidFill>
                  <a:srgbClr val="DCE6EE"/>
                </a:solidFill>
                <a:latin typeface="Consolas"/>
              </a:rPr>
              <a:t>pairs %&gt;%</a:t>
            </a:r>
          </a:p>
          <a:p>
            <a:pPr>
              <a:lnSpc>
                <a:spcPct val="118000"/>
              </a:lnSpc>
            </a:pPr>
            <a:r>
              <a:rPr lang="en-US" sz="1250" dirty="0">
                <a:solidFill>
                  <a:srgbClr val="DCE6EE"/>
                </a:solidFill>
                <a:latin typeface="Consolas"/>
              </a:rPr>
              <a:t>  filter(n &gt;= MIN_EDGE) %&gt;%           # The minimum edge count can be changed to make the tangle clears. </a:t>
            </a:r>
          </a:p>
          <a:p>
            <a:pPr>
              <a:lnSpc>
                <a:spcPct val="118000"/>
              </a:lnSpc>
            </a:pPr>
            <a:r>
              <a:rPr sz="1250" dirty="0">
                <a:solidFill>
                  <a:srgbClr val="DCE6EE"/>
                </a:solidFill>
                <a:latin typeface="Consolas"/>
              </a:rPr>
              <a:t>  </a:t>
            </a:r>
            <a:r>
              <a:rPr sz="1250" dirty="0" err="1">
                <a:solidFill>
                  <a:srgbClr val="DCE6EE"/>
                </a:solidFill>
                <a:latin typeface="Consolas"/>
              </a:rPr>
              <a:t>graph_from_data_frame</a:t>
            </a:r>
            <a:r>
              <a:rPr sz="1250" dirty="0">
                <a:solidFill>
                  <a:srgbClr val="DCE6EE"/>
                </a:solidFill>
                <a:latin typeface="Consolas"/>
              </a:rPr>
              <a:t>() %&gt;%         # </a:t>
            </a:r>
            <a:r>
              <a:rPr sz="1250" dirty="0" err="1">
                <a:solidFill>
                  <a:srgbClr val="DCE6EE"/>
                </a:solidFill>
                <a:latin typeface="Consolas"/>
              </a:rPr>
              <a:t>igraph</a:t>
            </a:r>
            <a:endParaRPr sz="1250" dirty="0">
              <a:solidFill>
                <a:srgbClr val="DCE6EE"/>
              </a:solidFill>
              <a:latin typeface="Consolas"/>
            </a:endParaRPr>
          </a:p>
          <a:p>
            <a:pPr>
              <a:lnSpc>
                <a:spcPct val="118000"/>
              </a:lnSpc>
            </a:pPr>
            <a:r>
              <a:rPr sz="1250" dirty="0">
                <a:solidFill>
                  <a:srgbClr val="DCE6EE"/>
                </a:solidFill>
                <a:latin typeface="Consolas"/>
              </a:rPr>
              <a:t>  </a:t>
            </a:r>
            <a:r>
              <a:rPr sz="1250" dirty="0" err="1">
                <a:solidFill>
                  <a:srgbClr val="DCE6EE"/>
                </a:solidFill>
                <a:latin typeface="Consolas"/>
              </a:rPr>
              <a:t>ggraph</a:t>
            </a:r>
            <a:r>
              <a:rPr sz="1250" dirty="0">
                <a:solidFill>
                  <a:srgbClr val="DCE6EE"/>
                </a:solidFill>
                <a:latin typeface="Consolas"/>
              </a:rPr>
              <a:t>(layout = "</a:t>
            </a:r>
            <a:r>
              <a:rPr sz="1250" dirty="0" err="1">
                <a:solidFill>
                  <a:srgbClr val="DCE6EE"/>
                </a:solidFill>
                <a:latin typeface="Consolas"/>
              </a:rPr>
              <a:t>fr</a:t>
            </a:r>
            <a:r>
              <a:rPr sz="1250" dirty="0">
                <a:solidFill>
                  <a:srgbClr val="DCE6EE"/>
                </a:solidFill>
                <a:latin typeface="Consolas"/>
              </a:rPr>
              <a:t>") +             # </a:t>
            </a:r>
            <a:r>
              <a:rPr sz="1250" dirty="0" err="1">
                <a:solidFill>
                  <a:srgbClr val="DCE6EE"/>
                </a:solidFill>
                <a:latin typeface="Consolas"/>
              </a:rPr>
              <a:t>ggraph</a:t>
            </a:r>
            <a:endParaRPr sz="1250" dirty="0">
              <a:solidFill>
                <a:srgbClr val="DCE6EE"/>
              </a:solidFill>
              <a:latin typeface="Consolas"/>
            </a:endParaRPr>
          </a:p>
          <a:p>
            <a:pPr>
              <a:lnSpc>
                <a:spcPct val="118000"/>
              </a:lnSpc>
            </a:pPr>
            <a:r>
              <a:rPr sz="1250" dirty="0">
                <a:solidFill>
                  <a:srgbClr val="DCE6EE"/>
                </a:solidFill>
                <a:latin typeface="Consolas"/>
              </a:rPr>
              <a:t>    </a:t>
            </a:r>
            <a:r>
              <a:rPr sz="1250" dirty="0" err="1">
                <a:solidFill>
                  <a:srgbClr val="DCE6EE"/>
                </a:solidFill>
                <a:latin typeface="Consolas"/>
              </a:rPr>
              <a:t>geom_edge_link</a:t>
            </a:r>
            <a:r>
              <a:rPr sz="1250" dirty="0">
                <a:solidFill>
                  <a:srgbClr val="DCE6EE"/>
                </a:solidFill>
                <a:latin typeface="Consolas"/>
              </a:rPr>
              <a:t>(</a:t>
            </a:r>
            <a:r>
              <a:rPr sz="1250" dirty="0" err="1">
                <a:solidFill>
                  <a:srgbClr val="DCE6EE"/>
                </a:solidFill>
                <a:latin typeface="Consolas"/>
              </a:rPr>
              <a:t>aes</a:t>
            </a:r>
            <a:r>
              <a:rPr sz="1250" dirty="0">
                <a:solidFill>
                  <a:srgbClr val="DCE6EE"/>
                </a:solidFill>
                <a:latin typeface="Consolas"/>
              </a:rPr>
              <a:t>(width = n)) +</a:t>
            </a:r>
          </a:p>
          <a:p>
            <a:pPr>
              <a:lnSpc>
                <a:spcPct val="118000"/>
              </a:lnSpc>
            </a:pPr>
            <a:r>
              <a:rPr sz="1250" dirty="0">
                <a:solidFill>
                  <a:srgbClr val="DCE6EE"/>
                </a:solidFill>
                <a:latin typeface="Consolas"/>
              </a:rPr>
              <a:t>    </a:t>
            </a:r>
            <a:r>
              <a:rPr sz="1250" dirty="0" err="1">
                <a:solidFill>
                  <a:srgbClr val="DCE6EE"/>
                </a:solidFill>
                <a:latin typeface="Consolas"/>
              </a:rPr>
              <a:t>geom_node_point</a:t>
            </a:r>
            <a:r>
              <a:rPr sz="1250" dirty="0">
                <a:solidFill>
                  <a:srgbClr val="DCE6EE"/>
                </a:solidFill>
                <a:latin typeface="Consolas"/>
              </a:rPr>
              <a:t>() +</a:t>
            </a:r>
          </a:p>
          <a:p>
            <a:pPr>
              <a:lnSpc>
                <a:spcPct val="118000"/>
              </a:lnSpc>
            </a:pPr>
            <a:r>
              <a:rPr sz="1250" dirty="0">
                <a:solidFill>
                  <a:srgbClr val="DCE6EE"/>
                </a:solidFill>
                <a:latin typeface="Consolas"/>
              </a:rPr>
              <a:t>    </a:t>
            </a:r>
            <a:r>
              <a:rPr sz="1250" dirty="0" err="1">
                <a:solidFill>
                  <a:srgbClr val="DCE6EE"/>
                </a:solidFill>
                <a:latin typeface="Consolas"/>
              </a:rPr>
              <a:t>geom_node_text</a:t>
            </a:r>
            <a:r>
              <a:rPr sz="1250" dirty="0">
                <a:solidFill>
                  <a:srgbClr val="DCE6EE"/>
                </a:solidFill>
                <a:latin typeface="Consolas"/>
              </a:rPr>
              <a:t>(</a:t>
            </a:r>
            <a:r>
              <a:rPr sz="1250" dirty="0" err="1">
                <a:solidFill>
                  <a:srgbClr val="DCE6EE"/>
                </a:solidFill>
                <a:latin typeface="Consolas"/>
              </a:rPr>
              <a:t>aes</a:t>
            </a:r>
            <a:r>
              <a:rPr sz="1250" dirty="0">
                <a:solidFill>
                  <a:srgbClr val="DCE6EE"/>
                </a:solidFill>
                <a:latin typeface="Consolas"/>
              </a:rPr>
              <a:t>(label = name))</a:t>
            </a:r>
          </a:p>
        </p:txBody>
      </p:sp>
      <p:sp>
        <p:nvSpPr>
          <p:cNvPr id="10" name="Rectangle 9">
            <a:extLst>
              <a:ext uri="{FF2B5EF4-FFF2-40B4-BE49-F238E27FC236}">
                <a16:creationId xmlns:a16="http://schemas.microsoft.com/office/drawing/2014/main" id="{1EB9350D-083B-8D01-1876-ABE3AA2A55B7}"/>
              </a:ext>
            </a:extLst>
          </p:cNvPr>
          <p:cNvSpPr/>
          <p:nvPr/>
        </p:nvSpPr>
        <p:spPr>
          <a:xfrm>
            <a:off x="566928" y="457199"/>
            <a:ext cx="82296" cy="98532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200"/>
            <a:ext cx="82296" cy="56692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What counting cannot tell you</a:t>
            </a:r>
          </a:p>
        </p:txBody>
      </p:sp>
      <p:sp>
        <p:nvSpPr>
          <p:cNvPr id="4" name="Rounded Rectangle 3"/>
          <p:cNvSpPr/>
          <p:nvPr/>
        </p:nvSpPr>
        <p:spPr>
          <a:xfrm>
            <a:off x="566928" y="1513598"/>
            <a:ext cx="5346039" cy="2986682"/>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5" name="Rectangle 4"/>
          <p:cNvSpPr/>
          <p:nvPr/>
        </p:nvSpPr>
        <p:spPr>
          <a:xfrm>
            <a:off x="566928" y="1513597"/>
            <a:ext cx="50292" cy="2986681"/>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p:cNvSpPr txBox="1"/>
          <p:nvPr/>
        </p:nvSpPr>
        <p:spPr>
          <a:xfrm>
            <a:off x="886968" y="1661254"/>
            <a:ext cx="3657600" cy="461665"/>
          </a:xfrm>
          <a:prstGeom prst="rect">
            <a:avLst/>
          </a:prstGeom>
          <a:noFill/>
        </p:spPr>
        <p:txBody>
          <a:bodyPr wrap="square" anchor="t">
            <a:spAutoFit/>
          </a:bodyPr>
          <a:lstStyle/>
          <a:p>
            <a:pPr algn="l"/>
            <a:r>
              <a:rPr sz="2400" b="1" i="0" dirty="0">
                <a:solidFill>
                  <a:srgbClr val="0E7C86"/>
                </a:solidFill>
                <a:latin typeface="Georgia"/>
              </a:rPr>
              <a:t>Counting says</a:t>
            </a:r>
          </a:p>
        </p:txBody>
      </p:sp>
      <p:sp>
        <p:nvSpPr>
          <p:cNvPr id="7" name="TextBox 6"/>
          <p:cNvSpPr txBox="1"/>
          <p:nvPr/>
        </p:nvSpPr>
        <p:spPr>
          <a:xfrm>
            <a:off x="886968" y="2316475"/>
            <a:ext cx="4705959" cy="461665"/>
          </a:xfrm>
          <a:prstGeom prst="rect">
            <a:avLst/>
          </a:prstGeom>
          <a:noFill/>
        </p:spPr>
        <p:txBody>
          <a:bodyPr wrap="square" anchor="t">
            <a:spAutoFit/>
          </a:bodyPr>
          <a:lstStyle/>
          <a:p>
            <a:pPr algn="l"/>
            <a:r>
              <a:rPr sz="2400" b="1" i="0" dirty="0" err="1">
                <a:solidFill>
                  <a:srgbClr val="1F2933"/>
                </a:solidFill>
                <a:latin typeface="Consolas"/>
              </a:rPr>
              <a:t>ojukwu</a:t>
            </a:r>
            <a:r>
              <a:rPr sz="2400" b="1" i="0" dirty="0">
                <a:solidFill>
                  <a:srgbClr val="1F2933"/>
                </a:solidFill>
                <a:latin typeface="Consolas"/>
              </a:rPr>
              <a:t>  ·  </a:t>
            </a:r>
            <a:r>
              <a:rPr sz="2400" b="1" i="0" dirty="0" err="1">
                <a:solidFill>
                  <a:srgbClr val="1F2933"/>
                </a:solidFill>
                <a:latin typeface="Consolas"/>
              </a:rPr>
              <a:t>biafra</a:t>
            </a:r>
            <a:endParaRPr sz="2400" b="1" i="0" dirty="0">
              <a:solidFill>
                <a:srgbClr val="1F2933"/>
              </a:solidFill>
              <a:latin typeface="Consolas"/>
            </a:endParaRPr>
          </a:p>
        </p:txBody>
      </p:sp>
      <p:sp>
        <p:nvSpPr>
          <p:cNvPr id="8" name="TextBox 7"/>
          <p:cNvSpPr txBox="1"/>
          <p:nvPr/>
        </p:nvSpPr>
        <p:spPr>
          <a:xfrm>
            <a:off x="886968" y="3045127"/>
            <a:ext cx="4705959" cy="954107"/>
          </a:xfrm>
          <a:prstGeom prst="rect">
            <a:avLst/>
          </a:prstGeom>
          <a:noFill/>
        </p:spPr>
        <p:txBody>
          <a:bodyPr wrap="square" anchor="t">
            <a:spAutoFit/>
          </a:bodyPr>
          <a:lstStyle/>
          <a:p>
            <a:pPr algn="l"/>
            <a:r>
              <a:rPr sz="2800" b="0" i="0">
                <a:solidFill>
                  <a:srgbClr val="667685"/>
                </a:solidFill>
                <a:latin typeface="Calibri"/>
              </a:rPr>
              <a:t>These two words appear in the same sentence. Often.</a:t>
            </a:r>
          </a:p>
        </p:txBody>
      </p:sp>
      <p:sp>
        <p:nvSpPr>
          <p:cNvPr id="9" name="Rounded Rectangle 8"/>
          <p:cNvSpPr/>
          <p:nvPr/>
        </p:nvSpPr>
        <p:spPr>
          <a:xfrm>
            <a:off x="6278727" y="1513597"/>
            <a:ext cx="5346039" cy="2986683"/>
          </a:xfrm>
          <a:prstGeom prst="roundRect">
            <a:avLst>
              <a:gd name="adj" fmla="val 6000"/>
            </a:avLst>
          </a:prstGeom>
          <a:solidFill>
            <a:srgbClr val="FB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Rectangle 9"/>
          <p:cNvSpPr/>
          <p:nvPr/>
        </p:nvSpPr>
        <p:spPr>
          <a:xfrm>
            <a:off x="6278727" y="1513598"/>
            <a:ext cx="50292" cy="2986682"/>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6598767" y="1639381"/>
            <a:ext cx="3657600" cy="461665"/>
          </a:xfrm>
          <a:prstGeom prst="rect">
            <a:avLst/>
          </a:prstGeom>
          <a:noFill/>
        </p:spPr>
        <p:txBody>
          <a:bodyPr wrap="square" anchor="t">
            <a:spAutoFit/>
          </a:bodyPr>
          <a:lstStyle/>
          <a:p>
            <a:pPr algn="l"/>
            <a:r>
              <a:rPr sz="2400" b="1" i="0" dirty="0">
                <a:solidFill>
                  <a:srgbClr val="C05746"/>
                </a:solidFill>
                <a:latin typeface="Georgia"/>
              </a:rPr>
              <a:t>Reading says</a:t>
            </a:r>
          </a:p>
        </p:txBody>
      </p:sp>
      <p:sp>
        <p:nvSpPr>
          <p:cNvPr id="12" name="TextBox 11"/>
          <p:cNvSpPr txBox="1"/>
          <p:nvPr/>
        </p:nvSpPr>
        <p:spPr>
          <a:xfrm>
            <a:off x="6598767" y="2316475"/>
            <a:ext cx="4705959" cy="461665"/>
          </a:xfrm>
          <a:prstGeom prst="rect">
            <a:avLst/>
          </a:prstGeom>
          <a:noFill/>
        </p:spPr>
        <p:txBody>
          <a:bodyPr wrap="square" anchor="t">
            <a:spAutoFit/>
          </a:bodyPr>
          <a:lstStyle/>
          <a:p>
            <a:pPr algn="l"/>
            <a:r>
              <a:rPr sz="2400" b="1" i="0" dirty="0">
                <a:solidFill>
                  <a:srgbClr val="1F2933"/>
                </a:solidFill>
                <a:latin typeface="Consolas"/>
              </a:rPr>
              <a:t>Ojukwu → led → Biafra</a:t>
            </a:r>
          </a:p>
        </p:txBody>
      </p:sp>
      <p:sp>
        <p:nvSpPr>
          <p:cNvPr id="13" name="TextBox 12"/>
          <p:cNvSpPr txBox="1"/>
          <p:nvPr/>
        </p:nvSpPr>
        <p:spPr>
          <a:xfrm>
            <a:off x="6598767" y="3045127"/>
            <a:ext cx="4705959" cy="954107"/>
          </a:xfrm>
          <a:prstGeom prst="rect">
            <a:avLst/>
          </a:prstGeom>
          <a:noFill/>
        </p:spPr>
        <p:txBody>
          <a:bodyPr wrap="square" anchor="t">
            <a:spAutoFit/>
          </a:bodyPr>
          <a:lstStyle/>
          <a:p>
            <a:pPr algn="l"/>
            <a:r>
              <a:rPr sz="2800" b="0" i="0">
                <a:solidFill>
                  <a:srgbClr val="667685"/>
                </a:solidFill>
                <a:latin typeface="Calibri"/>
              </a:rPr>
              <a:t>Which is which, and what the connection actually is.</a:t>
            </a:r>
          </a:p>
        </p:txBody>
      </p:sp>
      <p:sp>
        <p:nvSpPr>
          <p:cNvPr id="14" name="Rounded Rectangle 13"/>
          <p:cNvSpPr/>
          <p:nvPr/>
        </p:nvSpPr>
        <p:spPr>
          <a:xfrm>
            <a:off x="566928" y="5050173"/>
            <a:ext cx="11057839" cy="1318705"/>
          </a:xfrm>
          <a:prstGeom prst="roundRect">
            <a:avLst>
              <a:gd name="adj" fmla="val 6000"/>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49807" y="5355582"/>
            <a:ext cx="10838384" cy="707886"/>
          </a:xfrm>
          <a:prstGeom prst="rect">
            <a:avLst/>
          </a:prstGeom>
          <a:noFill/>
        </p:spPr>
        <p:txBody>
          <a:bodyPr wrap="square" anchor="ctr">
            <a:spAutoFit/>
          </a:bodyPr>
          <a:lstStyle/>
          <a:p>
            <a:pPr algn="l"/>
            <a:r>
              <a:rPr sz="2000" b="0" i="0" dirty="0">
                <a:solidFill>
                  <a:srgbClr val="C9DCE7"/>
                </a:solidFill>
                <a:latin typeface="Calibri"/>
              </a:rPr>
              <a:t>Counting cannot name the relationship, and cannot tell direction.  </a:t>
            </a:r>
            <a:r>
              <a:rPr sz="2000" b="1" i="0" dirty="0">
                <a:solidFill>
                  <a:srgbClr val="FFFFFF"/>
                </a:solidFill>
                <a:latin typeface="Calibri"/>
              </a:rPr>
              <a:t>That gap is the job we hand to the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367555"/>
            <a:ext cx="82296" cy="86330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00421"/>
            <a:ext cx="10783519" cy="646331"/>
          </a:xfrm>
          <a:prstGeom prst="rect">
            <a:avLst/>
          </a:prstGeom>
          <a:noFill/>
        </p:spPr>
        <p:txBody>
          <a:bodyPr wrap="square" anchor="ctr">
            <a:spAutoFit/>
          </a:bodyPr>
          <a:lstStyle/>
          <a:p>
            <a:pPr algn="l"/>
            <a:r>
              <a:rPr sz="3600" b="1" i="0" dirty="0">
                <a:solidFill>
                  <a:srgbClr val="16324F"/>
                </a:solidFill>
                <a:latin typeface="Georgia"/>
              </a:rPr>
              <a:t>Key idea: the schema</a:t>
            </a:r>
          </a:p>
        </p:txBody>
      </p:sp>
      <p:sp>
        <p:nvSpPr>
          <p:cNvPr id="4" name="TextBox 3"/>
          <p:cNvSpPr txBox="1"/>
          <p:nvPr/>
        </p:nvSpPr>
        <p:spPr>
          <a:xfrm>
            <a:off x="804672" y="881054"/>
            <a:ext cx="10783519" cy="400110"/>
          </a:xfrm>
          <a:prstGeom prst="rect">
            <a:avLst/>
          </a:prstGeom>
          <a:noFill/>
        </p:spPr>
        <p:txBody>
          <a:bodyPr wrap="square" anchor="t">
            <a:spAutoFit/>
          </a:bodyPr>
          <a:lstStyle/>
          <a:p>
            <a:pPr algn="l"/>
            <a:r>
              <a:rPr sz="2000" b="0" i="0" dirty="0">
                <a:solidFill>
                  <a:srgbClr val="667685"/>
                </a:solidFill>
                <a:latin typeface="Calibri"/>
              </a:rPr>
              <a:t>A schema is the shape of the answer, a blank form for the model to fill in.</a:t>
            </a:r>
          </a:p>
        </p:txBody>
      </p:sp>
      <p:sp>
        <p:nvSpPr>
          <p:cNvPr id="5" name="Rounded Rectangle 4"/>
          <p:cNvSpPr/>
          <p:nvPr/>
        </p:nvSpPr>
        <p:spPr>
          <a:xfrm>
            <a:off x="566927" y="1495023"/>
            <a:ext cx="5418341" cy="423238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59536" y="1639751"/>
            <a:ext cx="4985452" cy="1323439"/>
          </a:xfrm>
          <a:prstGeom prst="rect">
            <a:avLst/>
          </a:prstGeom>
          <a:noFill/>
        </p:spPr>
        <p:txBody>
          <a:bodyPr wrap="square" anchor="t">
            <a:spAutoFit/>
          </a:bodyPr>
          <a:lstStyle/>
          <a:p>
            <a:pPr algn="just"/>
            <a:r>
              <a:rPr sz="2000" b="1" i="0" dirty="0">
                <a:solidFill>
                  <a:srgbClr val="C05746"/>
                </a:solidFill>
                <a:latin typeface="Calibri"/>
              </a:rPr>
              <a:t>Without one.  </a:t>
            </a:r>
            <a:r>
              <a:rPr sz="2000" b="0" i="0" dirty="0">
                <a:solidFill>
                  <a:srgbClr val="1F2933"/>
                </a:solidFill>
                <a:latin typeface="Calibri"/>
              </a:rPr>
              <a:t>You ask a question and get a paragraph. Fine to read, hard to use: you must pick it apart by hand, and the wording changes each time.</a:t>
            </a:r>
          </a:p>
        </p:txBody>
      </p:sp>
      <p:sp>
        <p:nvSpPr>
          <p:cNvPr id="7" name="TextBox 6"/>
          <p:cNvSpPr txBox="1"/>
          <p:nvPr/>
        </p:nvSpPr>
        <p:spPr>
          <a:xfrm>
            <a:off x="859536" y="3047767"/>
            <a:ext cx="5236464" cy="1015663"/>
          </a:xfrm>
          <a:prstGeom prst="rect">
            <a:avLst/>
          </a:prstGeom>
          <a:noFill/>
        </p:spPr>
        <p:txBody>
          <a:bodyPr wrap="square" anchor="t">
            <a:spAutoFit/>
          </a:bodyPr>
          <a:lstStyle/>
          <a:p>
            <a:pPr algn="l"/>
            <a:r>
              <a:rPr sz="2000" b="1" i="0" dirty="0">
                <a:solidFill>
                  <a:srgbClr val="0E7C86"/>
                </a:solidFill>
                <a:latin typeface="Calibri"/>
              </a:rPr>
              <a:t>With one.  </a:t>
            </a:r>
            <a:r>
              <a:rPr sz="2000" b="0" i="0" dirty="0">
                <a:solidFill>
                  <a:srgbClr val="1F2933"/>
                </a:solidFill>
                <a:latin typeface="Calibri"/>
              </a:rPr>
              <a:t>You describe the fields you want. The answer comes back as a table, ready to plot. Same shape every time.</a:t>
            </a:r>
          </a:p>
        </p:txBody>
      </p:sp>
      <p:sp>
        <p:nvSpPr>
          <p:cNvPr id="8" name="TextBox 7"/>
          <p:cNvSpPr txBox="1"/>
          <p:nvPr/>
        </p:nvSpPr>
        <p:spPr>
          <a:xfrm>
            <a:off x="859536" y="4202474"/>
            <a:ext cx="4114800" cy="400110"/>
          </a:xfrm>
          <a:prstGeom prst="rect">
            <a:avLst/>
          </a:prstGeom>
          <a:noFill/>
        </p:spPr>
        <p:txBody>
          <a:bodyPr wrap="square" anchor="t">
            <a:spAutoFit/>
          </a:bodyPr>
          <a:lstStyle/>
          <a:p>
            <a:pPr algn="l"/>
            <a:r>
              <a:rPr sz="2000" b="1" i="0" dirty="0">
                <a:solidFill>
                  <a:srgbClr val="16324F"/>
                </a:solidFill>
                <a:latin typeface="Calibri"/>
              </a:rPr>
              <a:t>Three building blocks</a:t>
            </a:r>
          </a:p>
        </p:txBody>
      </p:sp>
      <p:sp>
        <p:nvSpPr>
          <p:cNvPr id="9" name="TextBox 8"/>
          <p:cNvSpPr txBox="1"/>
          <p:nvPr/>
        </p:nvSpPr>
        <p:spPr>
          <a:xfrm>
            <a:off x="859536" y="4549228"/>
            <a:ext cx="4985452" cy="400110"/>
          </a:xfrm>
          <a:prstGeom prst="rect">
            <a:avLst/>
          </a:prstGeom>
          <a:noFill/>
        </p:spPr>
        <p:txBody>
          <a:bodyPr wrap="square" anchor="t">
            <a:spAutoFit/>
          </a:bodyPr>
          <a:lstStyle/>
          <a:p>
            <a:pPr algn="l"/>
            <a:r>
              <a:rPr sz="2000" b="1" i="0" dirty="0" err="1">
                <a:solidFill>
                  <a:srgbClr val="0E7C86"/>
                </a:solidFill>
                <a:latin typeface="Consolas"/>
              </a:rPr>
              <a:t>type_string</a:t>
            </a:r>
            <a:r>
              <a:rPr sz="2000" b="1" i="0" dirty="0">
                <a:solidFill>
                  <a:srgbClr val="0E7C86"/>
                </a:solidFill>
                <a:latin typeface="Consolas"/>
              </a:rPr>
              <a:t>()</a:t>
            </a:r>
            <a:r>
              <a:rPr sz="2000" b="0" i="0" dirty="0">
                <a:solidFill>
                  <a:srgbClr val="667685"/>
                </a:solidFill>
                <a:latin typeface="Calibri"/>
              </a:rPr>
              <a:t>   one blank line on the form</a:t>
            </a:r>
          </a:p>
        </p:txBody>
      </p:sp>
      <p:sp>
        <p:nvSpPr>
          <p:cNvPr id="10" name="TextBox 9"/>
          <p:cNvSpPr txBox="1"/>
          <p:nvPr/>
        </p:nvSpPr>
        <p:spPr>
          <a:xfrm>
            <a:off x="859536" y="4904767"/>
            <a:ext cx="4985452" cy="400110"/>
          </a:xfrm>
          <a:prstGeom prst="rect">
            <a:avLst/>
          </a:prstGeom>
          <a:noFill/>
        </p:spPr>
        <p:txBody>
          <a:bodyPr wrap="square" anchor="t">
            <a:spAutoFit/>
          </a:bodyPr>
          <a:lstStyle/>
          <a:p>
            <a:pPr algn="l"/>
            <a:r>
              <a:rPr sz="2000" b="1" i="0" dirty="0" err="1">
                <a:solidFill>
                  <a:srgbClr val="0E7C86"/>
                </a:solidFill>
                <a:latin typeface="Consolas"/>
              </a:rPr>
              <a:t>type_object</a:t>
            </a:r>
            <a:r>
              <a:rPr sz="2000" b="1" i="0" dirty="0">
                <a:solidFill>
                  <a:srgbClr val="0E7C86"/>
                </a:solidFill>
                <a:latin typeface="Consolas"/>
              </a:rPr>
              <a:t>()</a:t>
            </a:r>
            <a:r>
              <a:rPr sz="2000" b="0" i="0" dirty="0">
                <a:solidFill>
                  <a:srgbClr val="667685"/>
                </a:solidFill>
                <a:latin typeface="Calibri"/>
              </a:rPr>
              <a:t>   fields that belong together</a:t>
            </a:r>
          </a:p>
        </p:txBody>
      </p:sp>
      <p:sp>
        <p:nvSpPr>
          <p:cNvPr id="11" name="TextBox 10"/>
          <p:cNvSpPr txBox="1"/>
          <p:nvPr/>
        </p:nvSpPr>
        <p:spPr>
          <a:xfrm>
            <a:off x="859536" y="5242377"/>
            <a:ext cx="4985452" cy="400110"/>
          </a:xfrm>
          <a:prstGeom prst="rect">
            <a:avLst/>
          </a:prstGeom>
          <a:noFill/>
        </p:spPr>
        <p:txBody>
          <a:bodyPr wrap="square" anchor="t">
            <a:spAutoFit/>
          </a:bodyPr>
          <a:lstStyle/>
          <a:p>
            <a:pPr algn="l"/>
            <a:r>
              <a:rPr sz="2000" b="1" i="0" dirty="0" err="1">
                <a:solidFill>
                  <a:srgbClr val="0E7C86"/>
                </a:solidFill>
                <a:latin typeface="Consolas"/>
              </a:rPr>
              <a:t>type_array</a:t>
            </a:r>
            <a:r>
              <a:rPr sz="2000" b="1" i="0" dirty="0">
                <a:solidFill>
                  <a:srgbClr val="0E7C86"/>
                </a:solidFill>
                <a:latin typeface="Consolas"/>
              </a:rPr>
              <a:t>()</a:t>
            </a:r>
            <a:r>
              <a:rPr sz="2000" b="0" i="0" dirty="0">
                <a:solidFill>
                  <a:srgbClr val="667685"/>
                </a:solidFill>
                <a:latin typeface="Calibri"/>
              </a:rPr>
              <a:t>   many of those records</a:t>
            </a:r>
          </a:p>
        </p:txBody>
      </p:sp>
      <p:sp>
        <p:nvSpPr>
          <p:cNvPr id="12" name="Rounded Rectangle 11"/>
          <p:cNvSpPr/>
          <p:nvPr/>
        </p:nvSpPr>
        <p:spPr>
          <a:xfrm>
            <a:off x="6206425" y="1495023"/>
            <a:ext cx="5418341" cy="4232387"/>
          </a:xfrm>
          <a:prstGeom prst="roundRect">
            <a:avLst>
              <a:gd name="adj" fmla="val 6000"/>
            </a:avLst>
          </a:prstGeom>
          <a:solidFill>
            <a:srgbClr val="12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6569316" y="1992702"/>
            <a:ext cx="5018875" cy="3125792"/>
          </a:xfrm>
          <a:prstGeom prst="rect">
            <a:avLst/>
          </a:prstGeom>
          <a:noFill/>
        </p:spPr>
        <p:txBody>
          <a:bodyPr wrap="square">
            <a:spAutoFit/>
          </a:bodyPr>
          <a:lstStyle/>
          <a:p>
            <a:pPr>
              <a:lnSpc>
                <a:spcPct val="118000"/>
              </a:lnSpc>
            </a:pPr>
            <a:r>
              <a:rPr sz="1400" dirty="0">
                <a:solidFill>
                  <a:srgbClr val="7FB8C4"/>
                </a:solidFill>
                <a:latin typeface="Consolas"/>
              </a:rPr>
              <a:t># one relationship = three fields</a:t>
            </a:r>
          </a:p>
          <a:p>
            <a:pPr>
              <a:lnSpc>
                <a:spcPct val="118000"/>
              </a:lnSpc>
            </a:pPr>
            <a:r>
              <a:rPr sz="1400" dirty="0" err="1">
                <a:solidFill>
                  <a:srgbClr val="DCE6EE"/>
                </a:solidFill>
                <a:latin typeface="Consolas"/>
              </a:rPr>
              <a:t>type_relation</a:t>
            </a:r>
            <a:r>
              <a:rPr sz="1400" dirty="0">
                <a:solidFill>
                  <a:srgbClr val="DCE6EE"/>
                </a:solidFill>
                <a:latin typeface="Consolas"/>
              </a:rPr>
              <a:t> &lt;- </a:t>
            </a:r>
            <a:r>
              <a:rPr sz="1400" dirty="0" err="1">
                <a:solidFill>
                  <a:srgbClr val="DCE6EE"/>
                </a:solidFill>
                <a:latin typeface="Consolas"/>
              </a:rPr>
              <a:t>type_object</a:t>
            </a:r>
            <a:r>
              <a:rPr sz="1400" dirty="0">
                <a:solidFill>
                  <a:srgbClr val="DCE6EE"/>
                </a:solidFill>
                <a:latin typeface="Consolas"/>
              </a:rPr>
              <a:t>(</a:t>
            </a:r>
          </a:p>
          <a:p>
            <a:pPr>
              <a:lnSpc>
                <a:spcPct val="118000"/>
              </a:lnSpc>
            </a:pPr>
            <a:r>
              <a:rPr sz="1400" dirty="0">
                <a:solidFill>
                  <a:srgbClr val="DCE6EE"/>
                </a:solidFill>
                <a:latin typeface="Consolas"/>
              </a:rPr>
              <a:t>  subject  = </a:t>
            </a:r>
            <a:r>
              <a:rPr sz="1400" dirty="0" err="1">
                <a:solidFill>
                  <a:srgbClr val="DCE6EE"/>
                </a:solidFill>
                <a:latin typeface="Consolas"/>
              </a:rPr>
              <a:t>type_string</a:t>
            </a:r>
            <a:r>
              <a:rPr sz="1400" dirty="0">
                <a:solidFill>
                  <a:srgbClr val="DCE6EE"/>
                </a:solidFill>
                <a:latin typeface="Consolas"/>
              </a:rPr>
              <a:t>("the thing"),</a:t>
            </a:r>
          </a:p>
          <a:p>
            <a:pPr>
              <a:lnSpc>
                <a:spcPct val="118000"/>
              </a:lnSpc>
            </a:pPr>
            <a:r>
              <a:rPr sz="1400" dirty="0">
                <a:solidFill>
                  <a:srgbClr val="DCE6EE"/>
                </a:solidFill>
                <a:latin typeface="Consolas"/>
              </a:rPr>
              <a:t>  relation = </a:t>
            </a:r>
            <a:r>
              <a:rPr sz="1400" dirty="0" err="1">
                <a:solidFill>
                  <a:srgbClr val="DCE6EE"/>
                </a:solidFill>
                <a:latin typeface="Consolas"/>
              </a:rPr>
              <a:t>type_string</a:t>
            </a:r>
            <a:r>
              <a:rPr sz="1400" dirty="0">
                <a:solidFill>
                  <a:srgbClr val="DCE6EE"/>
                </a:solidFill>
                <a:latin typeface="Consolas"/>
              </a:rPr>
              <a:t>("how they link"),</a:t>
            </a:r>
          </a:p>
          <a:p>
            <a:pPr>
              <a:lnSpc>
                <a:spcPct val="118000"/>
              </a:lnSpc>
            </a:pPr>
            <a:r>
              <a:rPr sz="1400" dirty="0">
                <a:solidFill>
                  <a:srgbClr val="DCE6EE"/>
                </a:solidFill>
                <a:latin typeface="Consolas"/>
              </a:rPr>
              <a:t>  object   = </a:t>
            </a:r>
            <a:r>
              <a:rPr sz="1400" dirty="0" err="1">
                <a:solidFill>
                  <a:srgbClr val="DCE6EE"/>
                </a:solidFill>
                <a:latin typeface="Consolas"/>
              </a:rPr>
              <a:t>type_string</a:t>
            </a:r>
            <a:r>
              <a:rPr sz="1400" dirty="0">
                <a:solidFill>
                  <a:srgbClr val="DCE6EE"/>
                </a:solidFill>
                <a:latin typeface="Consolas"/>
              </a:rPr>
              <a:t>("the other")</a:t>
            </a:r>
          </a:p>
          <a:p>
            <a:pPr>
              <a:lnSpc>
                <a:spcPct val="118000"/>
              </a:lnSpc>
            </a:pPr>
            <a:r>
              <a:rPr sz="1400" dirty="0">
                <a:solidFill>
                  <a:srgbClr val="DCE6EE"/>
                </a:solidFill>
                <a:latin typeface="Consolas"/>
              </a:rPr>
              <a:t>)</a:t>
            </a:r>
          </a:p>
          <a:p>
            <a:pPr>
              <a:lnSpc>
                <a:spcPct val="118000"/>
              </a:lnSpc>
            </a:pPr>
            <a:r>
              <a:rPr sz="1400" dirty="0">
                <a:solidFill>
                  <a:srgbClr val="DCE6EE"/>
                </a:solidFill>
                <a:latin typeface="Consolas"/>
              </a:rPr>
              <a:t> </a:t>
            </a:r>
          </a:p>
          <a:p>
            <a:pPr>
              <a:lnSpc>
                <a:spcPct val="118000"/>
              </a:lnSpc>
            </a:pPr>
            <a:r>
              <a:rPr sz="1400" dirty="0">
                <a:solidFill>
                  <a:srgbClr val="7FB8C4"/>
                </a:solidFill>
                <a:latin typeface="Consolas"/>
              </a:rPr>
              <a:t># the whole form = many of them</a:t>
            </a:r>
          </a:p>
          <a:p>
            <a:pPr>
              <a:lnSpc>
                <a:spcPct val="118000"/>
              </a:lnSpc>
            </a:pPr>
            <a:r>
              <a:rPr sz="1400" dirty="0" err="1">
                <a:solidFill>
                  <a:srgbClr val="DCE6EE"/>
                </a:solidFill>
                <a:latin typeface="Consolas"/>
              </a:rPr>
              <a:t>type_extraction</a:t>
            </a:r>
            <a:r>
              <a:rPr sz="1400" dirty="0">
                <a:solidFill>
                  <a:srgbClr val="DCE6EE"/>
                </a:solidFill>
                <a:latin typeface="Consolas"/>
              </a:rPr>
              <a:t> &lt;- </a:t>
            </a:r>
            <a:r>
              <a:rPr sz="1400" dirty="0" err="1">
                <a:solidFill>
                  <a:srgbClr val="DCE6EE"/>
                </a:solidFill>
                <a:latin typeface="Consolas"/>
              </a:rPr>
              <a:t>type_object</a:t>
            </a:r>
            <a:r>
              <a:rPr sz="1400" dirty="0">
                <a:solidFill>
                  <a:srgbClr val="DCE6EE"/>
                </a:solidFill>
                <a:latin typeface="Consolas"/>
              </a:rPr>
              <a:t>(</a:t>
            </a:r>
          </a:p>
          <a:p>
            <a:pPr>
              <a:lnSpc>
                <a:spcPct val="118000"/>
              </a:lnSpc>
            </a:pPr>
            <a:r>
              <a:rPr sz="1400" dirty="0">
                <a:solidFill>
                  <a:srgbClr val="DCE6EE"/>
                </a:solidFill>
                <a:latin typeface="Consolas"/>
              </a:rPr>
              <a:t>  entities  = </a:t>
            </a:r>
            <a:r>
              <a:rPr sz="1400" dirty="0" err="1">
                <a:solidFill>
                  <a:srgbClr val="DCE6EE"/>
                </a:solidFill>
                <a:latin typeface="Consolas"/>
              </a:rPr>
              <a:t>type_array</a:t>
            </a:r>
            <a:r>
              <a:rPr sz="1400" dirty="0">
                <a:solidFill>
                  <a:srgbClr val="DCE6EE"/>
                </a:solidFill>
                <a:latin typeface="Consolas"/>
              </a:rPr>
              <a:t>(</a:t>
            </a:r>
            <a:r>
              <a:rPr sz="1400" dirty="0" err="1">
                <a:solidFill>
                  <a:srgbClr val="DCE6EE"/>
                </a:solidFill>
                <a:latin typeface="Consolas"/>
              </a:rPr>
              <a:t>type_entity</a:t>
            </a:r>
            <a:r>
              <a:rPr sz="1400" dirty="0">
                <a:solidFill>
                  <a:srgbClr val="DCE6EE"/>
                </a:solidFill>
                <a:latin typeface="Consolas"/>
              </a:rPr>
              <a:t>),</a:t>
            </a:r>
          </a:p>
          <a:p>
            <a:pPr>
              <a:lnSpc>
                <a:spcPct val="118000"/>
              </a:lnSpc>
            </a:pPr>
            <a:r>
              <a:rPr sz="1400" dirty="0">
                <a:solidFill>
                  <a:srgbClr val="DCE6EE"/>
                </a:solidFill>
                <a:latin typeface="Consolas"/>
              </a:rPr>
              <a:t>  relations = </a:t>
            </a:r>
            <a:r>
              <a:rPr sz="1400" dirty="0" err="1">
                <a:solidFill>
                  <a:srgbClr val="DCE6EE"/>
                </a:solidFill>
                <a:latin typeface="Consolas"/>
              </a:rPr>
              <a:t>type_array</a:t>
            </a:r>
            <a:r>
              <a:rPr sz="1400" dirty="0">
                <a:solidFill>
                  <a:srgbClr val="DCE6EE"/>
                </a:solidFill>
                <a:latin typeface="Consolas"/>
              </a:rPr>
              <a:t>(</a:t>
            </a:r>
            <a:r>
              <a:rPr sz="1400" dirty="0" err="1">
                <a:solidFill>
                  <a:srgbClr val="DCE6EE"/>
                </a:solidFill>
                <a:latin typeface="Consolas"/>
              </a:rPr>
              <a:t>type_relation</a:t>
            </a:r>
            <a:r>
              <a:rPr sz="1400" dirty="0">
                <a:solidFill>
                  <a:srgbClr val="DCE6EE"/>
                </a:solidFill>
                <a:latin typeface="Consolas"/>
              </a:rPr>
              <a:t>)</a:t>
            </a:r>
          </a:p>
          <a:p>
            <a:pPr>
              <a:lnSpc>
                <a:spcPct val="118000"/>
              </a:lnSpc>
            </a:pPr>
            <a:r>
              <a:rPr sz="1400" dirty="0">
                <a:solidFill>
                  <a:srgbClr val="DCE6EE"/>
                </a:solidFill>
                <a:latin typeface="Consolas"/>
              </a:rPr>
              <a:t>)</a:t>
            </a:r>
          </a:p>
        </p:txBody>
      </p:sp>
      <p:sp>
        <p:nvSpPr>
          <p:cNvPr id="14" name="Rounded Rectangle 13"/>
          <p:cNvSpPr/>
          <p:nvPr/>
        </p:nvSpPr>
        <p:spPr>
          <a:xfrm>
            <a:off x="207803" y="6007242"/>
            <a:ext cx="11761694" cy="783875"/>
          </a:xfrm>
          <a:prstGeom prst="roundRect">
            <a:avLst>
              <a:gd name="adj" fmla="val 6000"/>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197221" y="6219190"/>
            <a:ext cx="11761694" cy="400110"/>
          </a:xfrm>
          <a:prstGeom prst="rect">
            <a:avLst/>
          </a:prstGeom>
          <a:noFill/>
        </p:spPr>
        <p:txBody>
          <a:bodyPr wrap="square" anchor="ctr">
            <a:spAutoFit/>
          </a:bodyPr>
          <a:lstStyle/>
          <a:p>
            <a:pPr algn="just"/>
            <a:r>
              <a:rPr sz="2000" b="1" i="0" dirty="0">
                <a:solidFill>
                  <a:srgbClr val="8A5F14"/>
                </a:solidFill>
                <a:latin typeface="Calibri"/>
              </a:rPr>
              <a:t>If it returns nothing:  </a:t>
            </a:r>
            <a:r>
              <a:rPr sz="2000" b="0" i="0" dirty="0">
                <a:solidFill>
                  <a:srgbClr val="1F2933"/>
                </a:solidFill>
                <a:latin typeface="Calibri"/>
              </a:rPr>
              <a:t>small models handle simple forms well and nested ones poorly. Ask for one item at a time.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86384" y="249780"/>
            <a:ext cx="10783519" cy="646331"/>
          </a:xfrm>
          <a:prstGeom prst="rect">
            <a:avLst/>
          </a:prstGeom>
          <a:noFill/>
        </p:spPr>
        <p:txBody>
          <a:bodyPr wrap="square" anchor="ctr">
            <a:spAutoFit/>
          </a:bodyPr>
          <a:lstStyle/>
          <a:p>
            <a:pPr algn="l"/>
            <a:r>
              <a:rPr sz="3600" b="1" i="0" dirty="0">
                <a:solidFill>
                  <a:srgbClr val="16324F"/>
                </a:solidFill>
                <a:latin typeface="Georgia"/>
              </a:rPr>
              <a:t>The call, in outline</a:t>
            </a:r>
          </a:p>
        </p:txBody>
      </p:sp>
      <p:sp>
        <p:nvSpPr>
          <p:cNvPr id="4" name="TextBox 3"/>
          <p:cNvSpPr txBox="1"/>
          <p:nvPr/>
        </p:nvSpPr>
        <p:spPr>
          <a:xfrm>
            <a:off x="786384" y="873311"/>
            <a:ext cx="10783519" cy="400110"/>
          </a:xfrm>
          <a:prstGeom prst="rect">
            <a:avLst/>
          </a:prstGeom>
          <a:noFill/>
        </p:spPr>
        <p:txBody>
          <a:bodyPr wrap="square" anchor="t">
            <a:spAutoFit/>
          </a:bodyPr>
          <a:lstStyle/>
          <a:p>
            <a:pPr algn="l"/>
            <a:r>
              <a:rPr sz="2000" b="0" i="0" dirty="0">
                <a:solidFill>
                  <a:srgbClr val="667685"/>
                </a:solidFill>
                <a:latin typeface="Calibri"/>
              </a:rPr>
              <a:t>Schema plus prompt go in, tables come out. The full script is 03_llm_extraction.R.</a:t>
            </a:r>
          </a:p>
        </p:txBody>
      </p:sp>
      <p:sp>
        <p:nvSpPr>
          <p:cNvPr id="5" name="Rounded Rectangle 4"/>
          <p:cNvSpPr/>
          <p:nvPr/>
        </p:nvSpPr>
        <p:spPr>
          <a:xfrm>
            <a:off x="566928" y="1564339"/>
            <a:ext cx="11057839" cy="4017187"/>
          </a:xfrm>
          <a:prstGeom prst="roundRect">
            <a:avLst>
              <a:gd name="adj" fmla="val 6000"/>
            </a:avLst>
          </a:prstGeom>
          <a:solidFill>
            <a:srgbClr val="12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0099" y="1792220"/>
            <a:ext cx="10459572" cy="3634265"/>
          </a:xfrm>
          <a:prstGeom prst="rect">
            <a:avLst/>
          </a:prstGeom>
          <a:noFill/>
        </p:spPr>
        <p:txBody>
          <a:bodyPr wrap="square">
            <a:spAutoFit/>
          </a:bodyPr>
          <a:lstStyle/>
          <a:p>
            <a:pPr>
              <a:lnSpc>
                <a:spcPct val="118000"/>
              </a:lnSpc>
            </a:pPr>
            <a:r>
              <a:rPr sz="1400" dirty="0">
                <a:solidFill>
                  <a:srgbClr val="7FB8C4"/>
                </a:solidFill>
                <a:latin typeface="Consolas"/>
              </a:rPr>
              <a:t># 1. connect to the model running on your own machine</a:t>
            </a:r>
          </a:p>
          <a:p>
            <a:pPr>
              <a:lnSpc>
                <a:spcPct val="118000"/>
              </a:lnSpc>
            </a:pPr>
            <a:r>
              <a:rPr sz="1400" dirty="0">
                <a:solidFill>
                  <a:srgbClr val="DCE6EE"/>
                </a:solidFill>
                <a:latin typeface="Consolas"/>
              </a:rPr>
              <a:t>chat &lt;- </a:t>
            </a:r>
            <a:r>
              <a:rPr sz="1400" dirty="0" err="1">
                <a:solidFill>
                  <a:srgbClr val="DCE6EE"/>
                </a:solidFill>
                <a:latin typeface="Consolas"/>
              </a:rPr>
              <a:t>chat_ollama</a:t>
            </a:r>
            <a:r>
              <a:rPr sz="1400" dirty="0">
                <a:solidFill>
                  <a:srgbClr val="DCE6EE"/>
                </a:solidFill>
                <a:latin typeface="Consolas"/>
              </a:rPr>
              <a:t>(model = "llama3.2:3b")</a:t>
            </a:r>
          </a:p>
          <a:p>
            <a:pPr>
              <a:lnSpc>
                <a:spcPct val="118000"/>
              </a:lnSpc>
            </a:pPr>
            <a:r>
              <a:rPr sz="1400" dirty="0">
                <a:solidFill>
                  <a:srgbClr val="DCE6EE"/>
                </a:solidFill>
                <a:latin typeface="Consolas"/>
              </a:rPr>
              <a:t> </a:t>
            </a:r>
          </a:p>
          <a:p>
            <a:pPr>
              <a:lnSpc>
                <a:spcPct val="118000"/>
              </a:lnSpc>
            </a:pPr>
            <a:r>
              <a:rPr sz="1400" dirty="0">
                <a:solidFill>
                  <a:srgbClr val="7FB8C4"/>
                </a:solidFill>
                <a:latin typeface="Consolas"/>
              </a:rPr>
              <a:t># 2. read the article in passages, not all at once</a:t>
            </a:r>
          </a:p>
          <a:p>
            <a:pPr>
              <a:lnSpc>
                <a:spcPct val="118000"/>
              </a:lnSpc>
            </a:pPr>
            <a:r>
              <a:rPr sz="1400" dirty="0">
                <a:solidFill>
                  <a:srgbClr val="DCE6EE"/>
                </a:solidFill>
                <a:latin typeface="Consolas"/>
              </a:rPr>
              <a:t>result &lt;- </a:t>
            </a:r>
            <a:r>
              <a:rPr sz="1400" dirty="0" err="1">
                <a:solidFill>
                  <a:srgbClr val="DCE6EE"/>
                </a:solidFill>
                <a:latin typeface="Consolas"/>
              </a:rPr>
              <a:t>chat$chat_structured</a:t>
            </a:r>
            <a:r>
              <a:rPr sz="1400" dirty="0">
                <a:solidFill>
                  <a:srgbClr val="DCE6EE"/>
                </a:solidFill>
                <a:latin typeface="Consolas"/>
              </a:rPr>
              <a:t>(</a:t>
            </a:r>
          </a:p>
          <a:p>
            <a:pPr>
              <a:lnSpc>
                <a:spcPct val="118000"/>
              </a:lnSpc>
            </a:pPr>
            <a:r>
              <a:rPr sz="1400" dirty="0">
                <a:solidFill>
                  <a:srgbClr val="DCE6EE"/>
                </a:solidFill>
                <a:latin typeface="Consolas"/>
              </a:rPr>
              <a:t>  paste(</a:t>
            </a:r>
            <a:r>
              <a:rPr sz="1400" dirty="0" err="1">
                <a:solidFill>
                  <a:srgbClr val="DCE6EE"/>
                </a:solidFill>
                <a:latin typeface="Consolas"/>
              </a:rPr>
              <a:t>focus_instruction</a:t>
            </a:r>
            <a:r>
              <a:rPr sz="1400" dirty="0">
                <a:solidFill>
                  <a:srgbClr val="DCE6EE"/>
                </a:solidFill>
                <a:latin typeface="Consolas"/>
              </a:rPr>
              <a:t>,             # what to look for, per article</a:t>
            </a:r>
          </a:p>
          <a:p>
            <a:pPr>
              <a:lnSpc>
                <a:spcPct val="118000"/>
              </a:lnSpc>
            </a:pPr>
            <a:r>
              <a:rPr sz="1400" dirty="0">
                <a:solidFill>
                  <a:srgbClr val="DCE6EE"/>
                </a:solidFill>
                <a:latin typeface="Consolas"/>
              </a:rPr>
              <a:t>        "Every entity must be a NAME.",</a:t>
            </a:r>
          </a:p>
          <a:p>
            <a:pPr>
              <a:lnSpc>
                <a:spcPct val="118000"/>
              </a:lnSpc>
            </a:pPr>
            <a:r>
              <a:rPr sz="1400" dirty="0">
                <a:solidFill>
                  <a:srgbClr val="DCE6EE"/>
                </a:solidFill>
                <a:latin typeface="Consolas"/>
              </a:rPr>
              <a:t>        passage),</a:t>
            </a:r>
          </a:p>
          <a:p>
            <a:pPr>
              <a:lnSpc>
                <a:spcPct val="118000"/>
              </a:lnSpc>
            </a:pPr>
            <a:r>
              <a:rPr sz="1400" dirty="0">
                <a:solidFill>
                  <a:srgbClr val="DCE6EE"/>
                </a:solidFill>
                <a:latin typeface="Consolas"/>
              </a:rPr>
              <a:t>  type = </a:t>
            </a:r>
            <a:r>
              <a:rPr sz="1400" dirty="0" err="1">
                <a:solidFill>
                  <a:srgbClr val="DCE6EE"/>
                </a:solidFill>
                <a:latin typeface="Consolas"/>
              </a:rPr>
              <a:t>type_extraction</a:t>
            </a:r>
            <a:r>
              <a:rPr sz="1400" dirty="0">
                <a:solidFill>
                  <a:srgbClr val="DCE6EE"/>
                </a:solidFill>
                <a:latin typeface="Consolas"/>
              </a:rPr>
              <a:t>               # the form it must fill in</a:t>
            </a:r>
          </a:p>
          <a:p>
            <a:pPr>
              <a:lnSpc>
                <a:spcPct val="118000"/>
              </a:lnSpc>
            </a:pPr>
            <a:r>
              <a:rPr sz="1400" dirty="0">
                <a:solidFill>
                  <a:srgbClr val="DCE6EE"/>
                </a:solidFill>
                <a:latin typeface="Consolas"/>
              </a:rPr>
              <a:t>)</a:t>
            </a:r>
          </a:p>
          <a:p>
            <a:pPr>
              <a:lnSpc>
                <a:spcPct val="118000"/>
              </a:lnSpc>
            </a:pPr>
            <a:r>
              <a:rPr sz="1400" dirty="0">
                <a:solidFill>
                  <a:srgbClr val="DCE6EE"/>
                </a:solidFill>
                <a:latin typeface="Consolas"/>
              </a:rPr>
              <a:t> </a:t>
            </a:r>
          </a:p>
          <a:p>
            <a:pPr>
              <a:lnSpc>
                <a:spcPct val="118000"/>
              </a:lnSpc>
            </a:pPr>
            <a:r>
              <a:rPr sz="1400" dirty="0">
                <a:solidFill>
                  <a:srgbClr val="7FB8C4"/>
                </a:solidFill>
                <a:latin typeface="Consolas"/>
              </a:rPr>
              <a:t># 3. the answer is already data</a:t>
            </a:r>
          </a:p>
          <a:p>
            <a:pPr>
              <a:lnSpc>
                <a:spcPct val="118000"/>
              </a:lnSpc>
            </a:pPr>
            <a:r>
              <a:rPr sz="1400" dirty="0" err="1">
                <a:solidFill>
                  <a:srgbClr val="DCE6EE"/>
                </a:solidFill>
                <a:latin typeface="Consolas"/>
              </a:rPr>
              <a:t>result$entities</a:t>
            </a:r>
            <a:r>
              <a:rPr sz="1400" dirty="0">
                <a:solidFill>
                  <a:srgbClr val="DCE6EE"/>
                </a:solidFill>
                <a:latin typeface="Consolas"/>
              </a:rPr>
              <a:t>    # a table: name, type</a:t>
            </a:r>
          </a:p>
          <a:p>
            <a:pPr>
              <a:lnSpc>
                <a:spcPct val="118000"/>
              </a:lnSpc>
            </a:pPr>
            <a:r>
              <a:rPr sz="1400" dirty="0" err="1">
                <a:solidFill>
                  <a:srgbClr val="DCE6EE"/>
                </a:solidFill>
                <a:latin typeface="Consolas"/>
              </a:rPr>
              <a:t>result$relations</a:t>
            </a:r>
            <a:r>
              <a:rPr sz="1400" dirty="0">
                <a:solidFill>
                  <a:srgbClr val="DCE6EE"/>
                </a:solidFill>
                <a:latin typeface="Consolas"/>
              </a:rPr>
              <a:t>   # a table: subject, relation, object</a:t>
            </a:r>
          </a:p>
        </p:txBody>
      </p:sp>
      <p:sp>
        <p:nvSpPr>
          <p:cNvPr id="7" name="Rounded Rectangle 6"/>
          <p:cNvSpPr/>
          <p:nvPr/>
        </p:nvSpPr>
        <p:spPr>
          <a:xfrm>
            <a:off x="566928" y="5958837"/>
            <a:ext cx="11057839" cy="685800"/>
          </a:xfrm>
          <a:prstGeom prst="roundRect">
            <a:avLst>
              <a:gd name="adj" fmla="val 6000"/>
            </a:avLst>
          </a:prstGeom>
          <a:solidFill>
            <a:srgbClr val="E8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sz="2800"/>
          </a:p>
        </p:txBody>
      </p:sp>
      <p:sp>
        <p:nvSpPr>
          <p:cNvPr id="8" name="TextBox 7"/>
          <p:cNvSpPr txBox="1"/>
          <p:nvPr/>
        </p:nvSpPr>
        <p:spPr>
          <a:xfrm>
            <a:off x="649224" y="5978572"/>
            <a:ext cx="10920679" cy="646331"/>
          </a:xfrm>
          <a:prstGeom prst="rect">
            <a:avLst/>
          </a:prstGeom>
          <a:noFill/>
        </p:spPr>
        <p:txBody>
          <a:bodyPr wrap="square" anchor="ctr">
            <a:spAutoFit/>
          </a:bodyPr>
          <a:lstStyle/>
          <a:p>
            <a:pPr algn="just"/>
            <a:r>
              <a:rPr b="1" i="0" dirty="0">
                <a:solidFill>
                  <a:srgbClr val="16324F"/>
                </a:solidFill>
                <a:latin typeface="Calibri"/>
              </a:rPr>
              <a:t>Run once, save, reload.  </a:t>
            </a:r>
            <a:r>
              <a:rPr b="0" i="0" dirty="0">
                <a:solidFill>
                  <a:srgbClr val="1F2933"/>
                </a:solidFill>
                <a:latin typeface="Calibri"/>
              </a:rPr>
              <a:t>Model calls are slow, so the script caches the answer. On the day it loads from disk in an instant.</a:t>
            </a:r>
          </a:p>
        </p:txBody>
      </p:sp>
      <p:sp>
        <p:nvSpPr>
          <p:cNvPr id="12" name="Rectangle 11">
            <a:extLst>
              <a:ext uri="{FF2B5EF4-FFF2-40B4-BE49-F238E27FC236}">
                <a16:creationId xmlns:a16="http://schemas.microsoft.com/office/drawing/2014/main" id="{63939840-4C25-BBF5-6D24-FD9946A27A3B}"/>
              </a:ext>
            </a:extLst>
          </p:cNvPr>
          <p:cNvSpPr/>
          <p:nvPr/>
        </p:nvSpPr>
        <p:spPr>
          <a:xfrm>
            <a:off x="566928" y="367555"/>
            <a:ext cx="82296" cy="86330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282491"/>
            <a:ext cx="10783519" cy="646331"/>
          </a:xfrm>
          <a:prstGeom prst="rect">
            <a:avLst/>
          </a:prstGeom>
          <a:noFill/>
        </p:spPr>
        <p:txBody>
          <a:bodyPr wrap="square" anchor="ctr">
            <a:spAutoFit/>
          </a:bodyPr>
          <a:lstStyle/>
          <a:p>
            <a:pPr algn="l"/>
            <a:r>
              <a:rPr sz="3600" b="1" i="0" dirty="0">
                <a:solidFill>
                  <a:srgbClr val="16324F"/>
                </a:solidFill>
                <a:latin typeface="Georgia"/>
              </a:rPr>
              <a:t>Key idea: the prompt</a:t>
            </a:r>
          </a:p>
        </p:txBody>
      </p:sp>
      <p:sp>
        <p:nvSpPr>
          <p:cNvPr id="4" name="TextBox 3"/>
          <p:cNvSpPr txBox="1"/>
          <p:nvPr/>
        </p:nvSpPr>
        <p:spPr>
          <a:xfrm>
            <a:off x="804672" y="881053"/>
            <a:ext cx="10783519" cy="400110"/>
          </a:xfrm>
          <a:prstGeom prst="rect">
            <a:avLst/>
          </a:prstGeom>
          <a:noFill/>
        </p:spPr>
        <p:txBody>
          <a:bodyPr wrap="square" anchor="t">
            <a:spAutoFit/>
          </a:bodyPr>
          <a:lstStyle/>
          <a:p>
            <a:pPr algn="l"/>
            <a:r>
              <a:rPr sz="2000" b="0" i="0" dirty="0">
                <a:solidFill>
                  <a:srgbClr val="667685"/>
                </a:solidFill>
                <a:latin typeface="Calibri"/>
              </a:rPr>
              <a:t>The schema fixes the shape. The prompt decides what goes in it.</a:t>
            </a:r>
          </a:p>
        </p:txBody>
      </p:sp>
      <p:sp>
        <p:nvSpPr>
          <p:cNvPr id="5" name="TextBox 4"/>
          <p:cNvSpPr txBox="1"/>
          <p:nvPr/>
        </p:nvSpPr>
        <p:spPr>
          <a:xfrm>
            <a:off x="566928" y="1492625"/>
            <a:ext cx="11057839" cy="830997"/>
          </a:xfrm>
          <a:prstGeom prst="rect">
            <a:avLst/>
          </a:prstGeom>
          <a:noFill/>
        </p:spPr>
        <p:txBody>
          <a:bodyPr wrap="square" anchor="t">
            <a:spAutoFit/>
          </a:bodyPr>
          <a:lstStyle/>
          <a:p>
            <a:pPr algn="just"/>
            <a:r>
              <a:rPr sz="2400" b="0" i="0" dirty="0">
                <a:solidFill>
                  <a:srgbClr val="1F2933"/>
                </a:solidFill>
                <a:latin typeface="Calibri"/>
              </a:rPr>
              <a:t>The same request does not suit every text. A war article and an election article hold different kinds of relationship, so the instruction changes with the article.</a:t>
            </a:r>
          </a:p>
        </p:txBody>
      </p:sp>
      <p:sp>
        <p:nvSpPr>
          <p:cNvPr id="6" name="Rounded Rectangle 5"/>
          <p:cNvSpPr/>
          <p:nvPr/>
        </p:nvSpPr>
        <p:spPr>
          <a:xfrm>
            <a:off x="566928" y="2545078"/>
            <a:ext cx="11057839" cy="148814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Rectangle 6"/>
          <p:cNvSpPr/>
          <p:nvPr/>
        </p:nvSpPr>
        <p:spPr>
          <a:xfrm>
            <a:off x="566928" y="2545079"/>
            <a:ext cx="50292" cy="1488146"/>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886968" y="2657106"/>
            <a:ext cx="10417759" cy="461665"/>
          </a:xfrm>
          <a:prstGeom prst="rect">
            <a:avLst/>
          </a:prstGeom>
          <a:noFill/>
        </p:spPr>
        <p:txBody>
          <a:bodyPr wrap="square" anchor="t">
            <a:spAutoFit/>
          </a:bodyPr>
          <a:lstStyle/>
          <a:p>
            <a:pPr algn="l"/>
            <a:r>
              <a:rPr sz="2400" b="1" i="0" dirty="0">
                <a:solidFill>
                  <a:srgbClr val="0E7C86"/>
                </a:solidFill>
                <a:latin typeface="Georgia"/>
              </a:rPr>
              <a:t>Article: Nigerian Civil War</a:t>
            </a:r>
          </a:p>
        </p:txBody>
      </p:sp>
      <p:sp>
        <p:nvSpPr>
          <p:cNvPr id="9" name="TextBox 8"/>
          <p:cNvSpPr txBox="1"/>
          <p:nvPr/>
        </p:nvSpPr>
        <p:spPr>
          <a:xfrm>
            <a:off x="886968" y="3200934"/>
            <a:ext cx="10417759" cy="723275"/>
          </a:xfrm>
          <a:prstGeom prst="rect">
            <a:avLst/>
          </a:prstGeom>
          <a:noFill/>
        </p:spPr>
        <p:txBody>
          <a:bodyPr wrap="square" anchor="t">
            <a:spAutoFit/>
          </a:bodyPr>
          <a:lstStyle/>
          <a:p>
            <a:pPr algn="just"/>
            <a:r>
              <a:rPr sz="2050" b="0" i="0" dirty="0">
                <a:solidFill>
                  <a:srgbClr val="1F2933"/>
                </a:solidFill>
                <a:latin typeface="Calibri"/>
              </a:rPr>
              <a:t>Who led which side or </a:t>
            </a:r>
            <a:r>
              <a:rPr sz="2050" b="0" i="0" dirty="0" err="1">
                <a:solidFill>
                  <a:srgbClr val="1F2933"/>
                </a:solidFill>
                <a:latin typeface="Calibri"/>
              </a:rPr>
              <a:t>organisation</a:t>
            </a:r>
            <a:r>
              <a:rPr sz="2050" b="0" i="0" dirty="0">
                <a:solidFill>
                  <a:srgbClr val="1F2933"/>
                </a:solidFill>
                <a:latin typeface="Calibri"/>
              </a:rPr>
              <a:t>  ·  which regions were involved and on which side  ·  which countries supported, supplied or mediated  ·  which events happened where</a:t>
            </a:r>
          </a:p>
        </p:txBody>
      </p:sp>
      <p:sp>
        <p:nvSpPr>
          <p:cNvPr id="10" name="Rounded Rectangle 9"/>
          <p:cNvSpPr/>
          <p:nvPr/>
        </p:nvSpPr>
        <p:spPr>
          <a:xfrm>
            <a:off x="566928" y="4214319"/>
            <a:ext cx="11057839" cy="1411749"/>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Rectangle 10"/>
          <p:cNvSpPr/>
          <p:nvPr/>
        </p:nvSpPr>
        <p:spPr>
          <a:xfrm>
            <a:off x="571500" y="4214319"/>
            <a:ext cx="45719" cy="1411749"/>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804672" y="4221062"/>
            <a:ext cx="10417759" cy="461665"/>
          </a:xfrm>
          <a:prstGeom prst="rect">
            <a:avLst/>
          </a:prstGeom>
          <a:noFill/>
        </p:spPr>
        <p:txBody>
          <a:bodyPr wrap="square" anchor="t">
            <a:spAutoFit/>
          </a:bodyPr>
          <a:lstStyle/>
          <a:p>
            <a:pPr algn="l"/>
            <a:r>
              <a:rPr sz="2400" b="1" i="0" dirty="0">
                <a:solidFill>
                  <a:srgbClr val="C05746"/>
                </a:solidFill>
                <a:latin typeface="Georgia"/>
              </a:rPr>
              <a:t>Article: 2023 Nigerian general election</a:t>
            </a:r>
          </a:p>
        </p:txBody>
      </p:sp>
      <p:sp>
        <p:nvSpPr>
          <p:cNvPr id="13" name="TextBox 12"/>
          <p:cNvSpPr txBox="1"/>
          <p:nvPr/>
        </p:nvSpPr>
        <p:spPr>
          <a:xfrm>
            <a:off x="804672" y="4736514"/>
            <a:ext cx="10701223" cy="830997"/>
          </a:xfrm>
          <a:prstGeom prst="rect">
            <a:avLst/>
          </a:prstGeom>
          <a:noFill/>
        </p:spPr>
        <p:txBody>
          <a:bodyPr wrap="square" anchor="t">
            <a:spAutoFit/>
          </a:bodyPr>
          <a:lstStyle/>
          <a:p>
            <a:pPr algn="just"/>
            <a:r>
              <a:rPr sz="2400" b="0" i="0" dirty="0">
                <a:solidFill>
                  <a:srgbClr val="1F2933"/>
                </a:solidFill>
                <a:latin typeface="Calibri"/>
              </a:rPr>
              <a:t>Which candidate ran for which party  ·  who won and who lost  ·  who succeeded whom  ·  which bodies </a:t>
            </a:r>
            <a:r>
              <a:rPr sz="2400" b="0" i="0" dirty="0" err="1">
                <a:solidFill>
                  <a:srgbClr val="1F2933"/>
                </a:solidFill>
                <a:latin typeface="Calibri"/>
              </a:rPr>
              <a:t>organised</a:t>
            </a:r>
            <a:r>
              <a:rPr sz="2400" b="0" i="0" dirty="0">
                <a:solidFill>
                  <a:srgbClr val="1F2933"/>
                </a:solidFill>
                <a:latin typeface="Calibri"/>
              </a:rPr>
              <a:t> or ruled on it  ·  who carried which states</a:t>
            </a:r>
          </a:p>
        </p:txBody>
      </p:sp>
      <p:sp>
        <p:nvSpPr>
          <p:cNvPr id="14" name="Rounded Rectangle 13"/>
          <p:cNvSpPr/>
          <p:nvPr/>
        </p:nvSpPr>
        <p:spPr>
          <a:xfrm>
            <a:off x="444738" y="5954173"/>
            <a:ext cx="11323463" cy="731520"/>
          </a:xfrm>
          <a:prstGeom prst="roundRect">
            <a:avLst>
              <a:gd name="adj" fmla="val 6000"/>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92658" y="6135267"/>
            <a:ext cx="10938967" cy="369332"/>
          </a:xfrm>
          <a:prstGeom prst="rect">
            <a:avLst/>
          </a:prstGeom>
          <a:noFill/>
        </p:spPr>
        <p:txBody>
          <a:bodyPr wrap="square" anchor="ctr">
            <a:spAutoFit/>
          </a:bodyPr>
          <a:lstStyle/>
          <a:p>
            <a:pPr algn="just"/>
            <a:r>
              <a:rPr b="0" i="0" dirty="0">
                <a:solidFill>
                  <a:srgbClr val="C9DCE7"/>
                </a:solidFill>
                <a:latin typeface="Calibri"/>
              </a:rPr>
              <a:t>Use the general prompt on either and you still get an answer, just a vaguer one.  </a:t>
            </a:r>
            <a:r>
              <a:rPr b="1" i="0" dirty="0">
                <a:solidFill>
                  <a:srgbClr val="FFFFFF"/>
                </a:solidFill>
                <a:latin typeface="Calibri"/>
              </a:rPr>
              <a:t>The prompt is part of the method.</a:t>
            </a:r>
          </a:p>
        </p:txBody>
      </p:sp>
      <p:sp>
        <p:nvSpPr>
          <p:cNvPr id="19" name="Rectangle 18">
            <a:extLst>
              <a:ext uri="{FF2B5EF4-FFF2-40B4-BE49-F238E27FC236}">
                <a16:creationId xmlns:a16="http://schemas.microsoft.com/office/drawing/2014/main" id="{7B600B5B-1CF0-B627-11B3-065056ED1423}"/>
              </a:ext>
            </a:extLst>
          </p:cNvPr>
          <p:cNvSpPr/>
          <p:nvPr/>
        </p:nvSpPr>
        <p:spPr>
          <a:xfrm>
            <a:off x="566928" y="367555"/>
            <a:ext cx="82296" cy="86330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Then check it</a:t>
            </a:r>
          </a:p>
        </p:txBody>
      </p:sp>
      <p:sp>
        <p:nvSpPr>
          <p:cNvPr id="4" name="TextBox 3"/>
          <p:cNvSpPr txBox="1"/>
          <p:nvPr/>
        </p:nvSpPr>
        <p:spPr>
          <a:xfrm>
            <a:off x="804672" y="934841"/>
            <a:ext cx="10783519" cy="400110"/>
          </a:xfrm>
          <a:prstGeom prst="rect">
            <a:avLst/>
          </a:prstGeom>
          <a:noFill/>
        </p:spPr>
        <p:txBody>
          <a:bodyPr wrap="square" anchor="t">
            <a:spAutoFit/>
          </a:bodyPr>
          <a:lstStyle/>
          <a:p>
            <a:pPr algn="l"/>
            <a:r>
              <a:rPr sz="2000" b="0" i="0" dirty="0">
                <a:solidFill>
                  <a:srgbClr val="667685"/>
                </a:solidFill>
                <a:latin typeface="Calibri"/>
              </a:rPr>
              <a:t>The schema guarantees the answer has the right shape. Not that it is true.</a:t>
            </a:r>
          </a:p>
        </p:txBody>
      </p:sp>
      <p:sp>
        <p:nvSpPr>
          <p:cNvPr id="5" name="Rounded Rectangle 4"/>
          <p:cNvSpPr/>
          <p:nvPr/>
        </p:nvSpPr>
        <p:spPr>
          <a:xfrm>
            <a:off x="566928" y="1689846"/>
            <a:ext cx="11057839" cy="1439091"/>
          </a:xfrm>
          <a:prstGeom prst="roundRect">
            <a:avLst>
              <a:gd name="adj" fmla="val 6000"/>
            </a:avLst>
          </a:prstGeom>
          <a:solidFill>
            <a:srgbClr val="FBF0EE"/>
          </a:solidFill>
          <a:ln w="15240">
            <a:solidFill>
              <a:srgbClr val="C0574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sz="2400"/>
          </a:p>
        </p:txBody>
      </p:sp>
      <p:sp>
        <p:nvSpPr>
          <p:cNvPr id="6" name="TextBox 5"/>
          <p:cNvSpPr txBox="1"/>
          <p:nvPr/>
        </p:nvSpPr>
        <p:spPr>
          <a:xfrm>
            <a:off x="769532" y="1785589"/>
            <a:ext cx="10746944" cy="830997"/>
          </a:xfrm>
          <a:prstGeom prst="rect">
            <a:avLst/>
          </a:prstGeom>
          <a:noFill/>
        </p:spPr>
        <p:txBody>
          <a:bodyPr wrap="square" anchor="t">
            <a:spAutoFit/>
          </a:bodyPr>
          <a:lstStyle/>
          <a:p>
            <a:pPr algn="just"/>
            <a:r>
              <a:rPr sz="2300" b="1" i="0" dirty="0">
                <a:solidFill>
                  <a:srgbClr val="C05746"/>
                </a:solidFill>
                <a:latin typeface="Georgia"/>
              </a:rPr>
              <a:t>A model can produce a statement that reads perfectly well and is not in the text.</a:t>
            </a:r>
          </a:p>
        </p:txBody>
      </p:sp>
      <p:sp>
        <p:nvSpPr>
          <p:cNvPr id="7" name="TextBox 6"/>
          <p:cNvSpPr txBox="1"/>
          <p:nvPr/>
        </p:nvSpPr>
        <p:spPr>
          <a:xfrm>
            <a:off x="805389" y="2525835"/>
            <a:ext cx="10938967" cy="492443"/>
          </a:xfrm>
          <a:prstGeom prst="rect">
            <a:avLst/>
          </a:prstGeom>
          <a:noFill/>
        </p:spPr>
        <p:txBody>
          <a:bodyPr wrap="square" anchor="t">
            <a:spAutoFit/>
          </a:bodyPr>
          <a:lstStyle/>
          <a:p>
            <a:pPr algn="just"/>
            <a:r>
              <a:rPr sz="2600" b="0" i="0" dirty="0">
                <a:solidFill>
                  <a:srgbClr val="1F2933"/>
                </a:solidFill>
                <a:latin typeface="Calibri"/>
              </a:rPr>
              <a:t>It is a fluent writer before it is an accurate one. Tidy output is not evidence.</a:t>
            </a:r>
          </a:p>
        </p:txBody>
      </p:sp>
      <p:sp>
        <p:nvSpPr>
          <p:cNvPr id="8" name="Rounded Rectangle 7"/>
          <p:cNvSpPr/>
          <p:nvPr/>
        </p:nvSpPr>
        <p:spPr>
          <a:xfrm>
            <a:off x="566928" y="3587927"/>
            <a:ext cx="3564026" cy="310343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9" name="TextBox 8"/>
          <p:cNvSpPr txBox="1"/>
          <p:nvPr/>
        </p:nvSpPr>
        <p:spPr>
          <a:xfrm>
            <a:off x="841247" y="3633212"/>
            <a:ext cx="3015386" cy="523220"/>
          </a:xfrm>
          <a:prstGeom prst="rect">
            <a:avLst/>
          </a:prstGeom>
          <a:noFill/>
        </p:spPr>
        <p:txBody>
          <a:bodyPr wrap="square" anchor="t">
            <a:spAutoFit/>
          </a:bodyPr>
          <a:lstStyle/>
          <a:p>
            <a:pPr algn="l"/>
            <a:r>
              <a:rPr sz="2800" b="1" i="0">
                <a:solidFill>
                  <a:srgbClr val="16324F"/>
                </a:solidFill>
                <a:latin typeface="Georgia"/>
              </a:rPr>
              <a:t>What to do</a:t>
            </a:r>
          </a:p>
        </p:txBody>
      </p:sp>
      <p:sp>
        <p:nvSpPr>
          <p:cNvPr id="10" name="TextBox 9"/>
          <p:cNvSpPr txBox="1"/>
          <p:nvPr/>
        </p:nvSpPr>
        <p:spPr>
          <a:xfrm>
            <a:off x="841247" y="4322064"/>
            <a:ext cx="3015386" cy="1938992"/>
          </a:xfrm>
          <a:prstGeom prst="rect">
            <a:avLst/>
          </a:prstGeom>
          <a:noFill/>
        </p:spPr>
        <p:txBody>
          <a:bodyPr wrap="square" anchor="t">
            <a:spAutoFit/>
          </a:bodyPr>
          <a:lstStyle/>
          <a:p>
            <a:pPr algn="l"/>
            <a:r>
              <a:rPr sz="2400" b="0" i="0" dirty="0">
                <a:solidFill>
                  <a:srgbClr val="1F2933"/>
                </a:solidFill>
                <a:latin typeface="Calibri"/>
              </a:rPr>
              <a:t>Read each row against the article. Delete what it does not support. Two minutes, a few lines of R.</a:t>
            </a:r>
          </a:p>
        </p:txBody>
      </p:sp>
      <p:sp>
        <p:nvSpPr>
          <p:cNvPr id="11" name="Rounded Rectangle 10"/>
          <p:cNvSpPr/>
          <p:nvPr/>
        </p:nvSpPr>
        <p:spPr>
          <a:xfrm>
            <a:off x="4313834" y="3587926"/>
            <a:ext cx="3564026" cy="3103434"/>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4588154" y="3633212"/>
            <a:ext cx="3015386" cy="523220"/>
          </a:xfrm>
          <a:prstGeom prst="rect">
            <a:avLst/>
          </a:prstGeom>
          <a:noFill/>
        </p:spPr>
        <p:txBody>
          <a:bodyPr wrap="square" anchor="t">
            <a:spAutoFit/>
          </a:bodyPr>
          <a:lstStyle/>
          <a:p>
            <a:pPr algn="l"/>
            <a:r>
              <a:rPr sz="2800" b="1" i="0" dirty="0">
                <a:solidFill>
                  <a:srgbClr val="16324F"/>
                </a:solidFill>
                <a:latin typeface="Georgia"/>
              </a:rPr>
              <a:t>What to say</a:t>
            </a:r>
          </a:p>
        </p:txBody>
      </p:sp>
      <p:sp>
        <p:nvSpPr>
          <p:cNvPr id="13" name="TextBox 12"/>
          <p:cNvSpPr txBox="1"/>
          <p:nvPr/>
        </p:nvSpPr>
        <p:spPr>
          <a:xfrm>
            <a:off x="4588154" y="4322064"/>
            <a:ext cx="3015386" cy="1569660"/>
          </a:xfrm>
          <a:prstGeom prst="rect">
            <a:avLst/>
          </a:prstGeom>
          <a:noFill/>
        </p:spPr>
        <p:txBody>
          <a:bodyPr wrap="square" anchor="t">
            <a:spAutoFit/>
          </a:bodyPr>
          <a:lstStyle/>
          <a:p>
            <a:pPr algn="l"/>
            <a:r>
              <a:rPr sz="2400" b="0" i="0" dirty="0">
                <a:solidFill>
                  <a:srgbClr val="1F2933"/>
                </a:solidFill>
                <a:latin typeface="Calibri"/>
              </a:rPr>
              <a:t>You trust this because you checked it, not because it came out neat.</a:t>
            </a:r>
          </a:p>
        </p:txBody>
      </p:sp>
      <p:sp>
        <p:nvSpPr>
          <p:cNvPr id="14" name="Rounded Rectangle 13"/>
          <p:cNvSpPr/>
          <p:nvPr/>
        </p:nvSpPr>
        <p:spPr>
          <a:xfrm>
            <a:off x="8060740" y="3587927"/>
            <a:ext cx="3564026" cy="3103433"/>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5" name="TextBox 14"/>
          <p:cNvSpPr txBox="1"/>
          <p:nvPr/>
        </p:nvSpPr>
        <p:spPr>
          <a:xfrm>
            <a:off x="8335060" y="3633212"/>
            <a:ext cx="3015386" cy="523220"/>
          </a:xfrm>
          <a:prstGeom prst="rect">
            <a:avLst/>
          </a:prstGeom>
          <a:noFill/>
        </p:spPr>
        <p:txBody>
          <a:bodyPr wrap="square" anchor="t">
            <a:spAutoFit/>
          </a:bodyPr>
          <a:lstStyle/>
          <a:p>
            <a:pPr algn="l"/>
            <a:r>
              <a:rPr sz="2800" b="1" i="0">
                <a:solidFill>
                  <a:srgbClr val="16324F"/>
                </a:solidFill>
                <a:latin typeface="Georgia"/>
              </a:rPr>
              <a:t>What we found</a:t>
            </a:r>
          </a:p>
        </p:txBody>
      </p:sp>
      <p:sp>
        <p:nvSpPr>
          <p:cNvPr id="16" name="TextBox 15"/>
          <p:cNvSpPr txBox="1"/>
          <p:nvPr/>
        </p:nvSpPr>
        <p:spPr>
          <a:xfrm>
            <a:off x="8335060" y="4322064"/>
            <a:ext cx="3015386" cy="2308324"/>
          </a:xfrm>
          <a:prstGeom prst="rect">
            <a:avLst/>
          </a:prstGeom>
          <a:noFill/>
        </p:spPr>
        <p:txBody>
          <a:bodyPr wrap="square" anchor="t">
            <a:spAutoFit/>
          </a:bodyPr>
          <a:lstStyle/>
          <a:p>
            <a:pPr algn="l"/>
            <a:r>
              <a:rPr sz="2400" b="0" i="0" dirty="0">
                <a:solidFill>
                  <a:srgbClr val="1F2933"/>
                </a:solidFill>
                <a:latin typeface="Calibri"/>
              </a:rPr>
              <a:t>An early run returned nodes reading “no information” and “not mentioned in this passage”. Real output, real cleaning.</a:t>
            </a:r>
          </a:p>
        </p:txBody>
      </p:sp>
      <p:sp>
        <p:nvSpPr>
          <p:cNvPr id="20" name="Rectangle 19">
            <a:extLst>
              <a:ext uri="{FF2B5EF4-FFF2-40B4-BE49-F238E27FC236}">
                <a16:creationId xmlns:a16="http://schemas.microsoft.com/office/drawing/2014/main" id="{E929E279-93C4-7A60-B987-92EFE42D171A}"/>
              </a:ext>
            </a:extLst>
          </p:cNvPr>
          <p:cNvSpPr/>
          <p:nvPr/>
        </p:nvSpPr>
        <p:spPr>
          <a:xfrm>
            <a:off x="566928" y="367555"/>
            <a:ext cx="82296" cy="86330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Same article, two methods</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Both graphs come from the same text. Only the method differs.</a:t>
            </a:r>
          </a:p>
        </p:txBody>
      </p:sp>
      <p:sp>
        <p:nvSpPr>
          <p:cNvPr id="5" name="Rectangle 4"/>
          <p:cNvSpPr/>
          <p:nvPr/>
        </p:nvSpPr>
        <p:spPr>
          <a:xfrm>
            <a:off x="566928" y="1958792"/>
            <a:ext cx="2875038" cy="475488"/>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Rectangle 5"/>
          <p:cNvSpPr/>
          <p:nvPr/>
        </p:nvSpPr>
        <p:spPr>
          <a:xfrm>
            <a:off x="3441966" y="1958792"/>
            <a:ext cx="4091400" cy="47548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7" name="Rectangle 6"/>
          <p:cNvSpPr/>
          <p:nvPr/>
        </p:nvSpPr>
        <p:spPr>
          <a:xfrm>
            <a:off x="7533366" y="1958792"/>
            <a:ext cx="4091400" cy="475488"/>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8" name="TextBox 7"/>
          <p:cNvSpPr txBox="1"/>
          <p:nvPr/>
        </p:nvSpPr>
        <p:spPr>
          <a:xfrm>
            <a:off x="3624846" y="2011870"/>
            <a:ext cx="3725640" cy="369332"/>
          </a:xfrm>
          <a:prstGeom prst="rect">
            <a:avLst/>
          </a:prstGeom>
          <a:noFill/>
        </p:spPr>
        <p:txBody>
          <a:bodyPr wrap="square" anchor="ctr">
            <a:spAutoFit/>
          </a:bodyPr>
          <a:lstStyle/>
          <a:p>
            <a:pPr algn="l"/>
            <a:r>
              <a:rPr b="1" i="0">
                <a:solidFill>
                  <a:srgbClr val="FFFFFF"/>
                </a:solidFill>
                <a:latin typeface="Calibri"/>
              </a:rPr>
              <a:t>Counting words</a:t>
            </a:r>
          </a:p>
        </p:txBody>
      </p:sp>
      <p:sp>
        <p:nvSpPr>
          <p:cNvPr id="9" name="TextBox 8"/>
          <p:cNvSpPr txBox="1"/>
          <p:nvPr/>
        </p:nvSpPr>
        <p:spPr>
          <a:xfrm>
            <a:off x="7716246" y="2011870"/>
            <a:ext cx="3725640" cy="369332"/>
          </a:xfrm>
          <a:prstGeom prst="rect">
            <a:avLst/>
          </a:prstGeom>
          <a:noFill/>
        </p:spPr>
        <p:txBody>
          <a:bodyPr wrap="square" anchor="ctr">
            <a:spAutoFit/>
          </a:bodyPr>
          <a:lstStyle/>
          <a:p>
            <a:pPr algn="l"/>
            <a:r>
              <a:rPr b="1" i="0">
                <a:solidFill>
                  <a:srgbClr val="FFFFFF"/>
                </a:solidFill>
                <a:latin typeface="Calibri"/>
              </a:rPr>
              <a:t>Reading with a model</a:t>
            </a:r>
          </a:p>
        </p:txBody>
      </p:sp>
      <p:sp>
        <p:nvSpPr>
          <p:cNvPr id="10" name="Rectangle 9"/>
          <p:cNvSpPr/>
          <p:nvPr/>
        </p:nvSpPr>
        <p:spPr>
          <a:xfrm>
            <a:off x="566928" y="2434280"/>
            <a:ext cx="11057839" cy="475488"/>
          </a:xfrm>
          <a:prstGeom prst="rect">
            <a:avLst/>
          </a:prstGeom>
          <a:solidFill>
            <a:srgbClr val="F3F6F9"/>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1" name="TextBox 10"/>
          <p:cNvSpPr txBox="1"/>
          <p:nvPr/>
        </p:nvSpPr>
        <p:spPr>
          <a:xfrm>
            <a:off x="749808" y="2487358"/>
            <a:ext cx="2600718" cy="369332"/>
          </a:xfrm>
          <a:prstGeom prst="rect">
            <a:avLst/>
          </a:prstGeom>
          <a:noFill/>
        </p:spPr>
        <p:txBody>
          <a:bodyPr wrap="square" anchor="ctr">
            <a:spAutoFit/>
          </a:bodyPr>
          <a:lstStyle/>
          <a:p>
            <a:pPr algn="l"/>
            <a:r>
              <a:rPr b="1" i="0">
                <a:solidFill>
                  <a:srgbClr val="16324F"/>
                </a:solidFill>
                <a:latin typeface="Calibri"/>
              </a:rPr>
              <a:t>What an edge means</a:t>
            </a:r>
          </a:p>
        </p:txBody>
      </p:sp>
      <p:sp>
        <p:nvSpPr>
          <p:cNvPr id="12" name="TextBox 11"/>
          <p:cNvSpPr txBox="1"/>
          <p:nvPr/>
        </p:nvSpPr>
        <p:spPr>
          <a:xfrm>
            <a:off x="3624846" y="2487358"/>
            <a:ext cx="3725640" cy="369332"/>
          </a:xfrm>
          <a:prstGeom prst="rect">
            <a:avLst/>
          </a:prstGeom>
          <a:noFill/>
        </p:spPr>
        <p:txBody>
          <a:bodyPr wrap="square" anchor="ctr">
            <a:spAutoFit/>
          </a:bodyPr>
          <a:lstStyle/>
          <a:p>
            <a:pPr algn="l"/>
            <a:r>
              <a:rPr b="0" i="0">
                <a:solidFill>
                  <a:srgbClr val="1F2933"/>
                </a:solidFill>
                <a:latin typeface="Calibri"/>
              </a:rPr>
              <a:t>these words share a sentence</a:t>
            </a:r>
          </a:p>
        </p:txBody>
      </p:sp>
      <p:sp>
        <p:nvSpPr>
          <p:cNvPr id="13" name="TextBox 12"/>
          <p:cNvSpPr txBox="1"/>
          <p:nvPr/>
        </p:nvSpPr>
        <p:spPr>
          <a:xfrm>
            <a:off x="7716246" y="2487358"/>
            <a:ext cx="3725640" cy="369332"/>
          </a:xfrm>
          <a:prstGeom prst="rect">
            <a:avLst/>
          </a:prstGeom>
          <a:noFill/>
        </p:spPr>
        <p:txBody>
          <a:bodyPr wrap="square" anchor="ctr">
            <a:spAutoFit/>
          </a:bodyPr>
          <a:lstStyle/>
          <a:p>
            <a:pPr algn="l"/>
            <a:r>
              <a:rPr b="0" i="0">
                <a:solidFill>
                  <a:srgbClr val="1F2933"/>
                </a:solidFill>
                <a:latin typeface="Calibri"/>
              </a:rPr>
              <a:t>this thing relates to that thing</a:t>
            </a:r>
          </a:p>
        </p:txBody>
      </p:sp>
      <p:sp>
        <p:nvSpPr>
          <p:cNvPr id="14" name="Rectangle 13"/>
          <p:cNvSpPr/>
          <p:nvPr/>
        </p:nvSpPr>
        <p:spPr>
          <a:xfrm>
            <a:off x="566928" y="2909768"/>
            <a:ext cx="11057839" cy="475488"/>
          </a:xfrm>
          <a:prstGeom prst="rect">
            <a:avLst/>
          </a:prstGeom>
          <a:solidFill>
            <a:srgbClr val="FFFFFF"/>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5" name="TextBox 14"/>
          <p:cNvSpPr txBox="1"/>
          <p:nvPr/>
        </p:nvSpPr>
        <p:spPr>
          <a:xfrm>
            <a:off x="749808" y="2962846"/>
            <a:ext cx="2600718" cy="369332"/>
          </a:xfrm>
          <a:prstGeom prst="rect">
            <a:avLst/>
          </a:prstGeom>
          <a:noFill/>
        </p:spPr>
        <p:txBody>
          <a:bodyPr wrap="square" anchor="ctr">
            <a:spAutoFit/>
          </a:bodyPr>
          <a:lstStyle/>
          <a:p>
            <a:pPr algn="l"/>
            <a:r>
              <a:rPr b="1" i="0">
                <a:solidFill>
                  <a:srgbClr val="16324F"/>
                </a:solidFill>
                <a:latin typeface="Calibri"/>
              </a:rPr>
              <a:t>Direction</a:t>
            </a:r>
          </a:p>
        </p:txBody>
      </p:sp>
      <p:sp>
        <p:nvSpPr>
          <p:cNvPr id="16" name="TextBox 15"/>
          <p:cNvSpPr txBox="1"/>
          <p:nvPr/>
        </p:nvSpPr>
        <p:spPr>
          <a:xfrm>
            <a:off x="3624846" y="2962846"/>
            <a:ext cx="3725640" cy="369332"/>
          </a:xfrm>
          <a:prstGeom prst="rect">
            <a:avLst/>
          </a:prstGeom>
          <a:noFill/>
        </p:spPr>
        <p:txBody>
          <a:bodyPr wrap="square" anchor="ctr">
            <a:spAutoFit/>
          </a:bodyPr>
          <a:lstStyle/>
          <a:p>
            <a:pPr algn="l"/>
            <a:r>
              <a:rPr b="0" i="0">
                <a:solidFill>
                  <a:srgbClr val="1F2933"/>
                </a:solidFill>
                <a:latin typeface="Calibri"/>
              </a:rPr>
              <a:t>none</a:t>
            </a:r>
          </a:p>
        </p:txBody>
      </p:sp>
      <p:sp>
        <p:nvSpPr>
          <p:cNvPr id="17" name="TextBox 16"/>
          <p:cNvSpPr txBox="1"/>
          <p:nvPr/>
        </p:nvSpPr>
        <p:spPr>
          <a:xfrm>
            <a:off x="7716246" y="2962846"/>
            <a:ext cx="3725640" cy="369332"/>
          </a:xfrm>
          <a:prstGeom prst="rect">
            <a:avLst/>
          </a:prstGeom>
          <a:noFill/>
        </p:spPr>
        <p:txBody>
          <a:bodyPr wrap="square" anchor="ctr">
            <a:spAutoFit/>
          </a:bodyPr>
          <a:lstStyle/>
          <a:p>
            <a:pPr algn="l"/>
            <a:r>
              <a:rPr b="0" i="0">
                <a:solidFill>
                  <a:srgbClr val="1F2933"/>
                </a:solidFill>
                <a:latin typeface="Calibri"/>
              </a:rPr>
              <a:t>subject → object</a:t>
            </a:r>
          </a:p>
        </p:txBody>
      </p:sp>
      <p:sp>
        <p:nvSpPr>
          <p:cNvPr id="18" name="Rectangle 17"/>
          <p:cNvSpPr/>
          <p:nvPr/>
        </p:nvSpPr>
        <p:spPr>
          <a:xfrm>
            <a:off x="566928" y="3385256"/>
            <a:ext cx="11057839" cy="475488"/>
          </a:xfrm>
          <a:prstGeom prst="rect">
            <a:avLst/>
          </a:prstGeom>
          <a:solidFill>
            <a:srgbClr val="F3F6F9"/>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9" name="TextBox 18"/>
          <p:cNvSpPr txBox="1"/>
          <p:nvPr/>
        </p:nvSpPr>
        <p:spPr>
          <a:xfrm>
            <a:off x="749808" y="3438334"/>
            <a:ext cx="2600718" cy="369332"/>
          </a:xfrm>
          <a:prstGeom prst="rect">
            <a:avLst/>
          </a:prstGeom>
          <a:noFill/>
        </p:spPr>
        <p:txBody>
          <a:bodyPr wrap="square" anchor="ctr">
            <a:spAutoFit/>
          </a:bodyPr>
          <a:lstStyle/>
          <a:p>
            <a:pPr algn="l"/>
            <a:r>
              <a:rPr b="1" i="0">
                <a:solidFill>
                  <a:srgbClr val="16324F"/>
                </a:solidFill>
                <a:latin typeface="Calibri"/>
              </a:rPr>
              <a:t>Edge label</a:t>
            </a:r>
          </a:p>
        </p:txBody>
      </p:sp>
      <p:sp>
        <p:nvSpPr>
          <p:cNvPr id="20" name="TextBox 19"/>
          <p:cNvSpPr txBox="1"/>
          <p:nvPr/>
        </p:nvSpPr>
        <p:spPr>
          <a:xfrm>
            <a:off x="3624846" y="3438334"/>
            <a:ext cx="3725640" cy="369332"/>
          </a:xfrm>
          <a:prstGeom prst="rect">
            <a:avLst/>
          </a:prstGeom>
          <a:noFill/>
        </p:spPr>
        <p:txBody>
          <a:bodyPr wrap="square" anchor="ctr">
            <a:spAutoFit/>
          </a:bodyPr>
          <a:lstStyle/>
          <a:p>
            <a:pPr algn="l"/>
            <a:r>
              <a:rPr b="0" i="0">
                <a:solidFill>
                  <a:srgbClr val="1F2933"/>
                </a:solidFill>
                <a:latin typeface="Calibri"/>
              </a:rPr>
              <a:t>none, only thickness</a:t>
            </a:r>
          </a:p>
        </p:txBody>
      </p:sp>
      <p:sp>
        <p:nvSpPr>
          <p:cNvPr id="21" name="TextBox 20"/>
          <p:cNvSpPr txBox="1"/>
          <p:nvPr/>
        </p:nvSpPr>
        <p:spPr>
          <a:xfrm>
            <a:off x="7716246" y="3438334"/>
            <a:ext cx="3725640" cy="369332"/>
          </a:xfrm>
          <a:prstGeom prst="rect">
            <a:avLst/>
          </a:prstGeom>
          <a:noFill/>
        </p:spPr>
        <p:txBody>
          <a:bodyPr wrap="square" anchor="ctr">
            <a:spAutoFit/>
          </a:bodyPr>
          <a:lstStyle/>
          <a:p>
            <a:pPr algn="l"/>
            <a:r>
              <a:rPr b="0" i="0">
                <a:solidFill>
                  <a:srgbClr val="1F2933"/>
                </a:solidFill>
                <a:latin typeface="Calibri"/>
              </a:rPr>
              <a:t>the relationship, in words</a:t>
            </a:r>
          </a:p>
        </p:txBody>
      </p:sp>
      <p:sp>
        <p:nvSpPr>
          <p:cNvPr id="22" name="Rectangle 21"/>
          <p:cNvSpPr/>
          <p:nvPr/>
        </p:nvSpPr>
        <p:spPr>
          <a:xfrm>
            <a:off x="566928" y="3860744"/>
            <a:ext cx="11057839" cy="475488"/>
          </a:xfrm>
          <a:prstGeom prst="rect">
            <a:avLst/>
          </a:prstGeom>
          <a:solidFill>
            <a:srgbClr val="FFFFFF"/>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3" name="TextBox 22"/>
          <p:cNvSpPr txBox="1"/>
          <p:nvPr/>
        </p:nvSpPr>
        <p:spPr>
          <a:xfrm>
            <a:off x="749808" y="3913822"/>
            <a:ext cx="2600718" cy="369332"/>
          </a:xfrm>
          <a:prstGeom prst="rect">
            <a:avLst/>
          </a:prstGeom>
          <a:noFill/>
        </p:spPr>
        <p:txBody>
          <a:bodyPr wrap="square" anchor="ctr">
            <a:spAutoFit/>
          </a:bodyPr>
          <a:lstStyle/>
          <a:p>
            <a:pPr algn="l"/>
            <a:r>
              <a:rPr b="1" i="0">
                <a:solidFill>
                  <a:srgbClr val="16324F"/>
                </a:solidFill>
                <a:latin typeface="Calibri"/>
              </a:rPr>
              <a:t>What the nodes are</a:t>
            </a:r>
          </a:p>
        </p:txBody>
      </p:sp>
      <p:sp>
        <p:nvSpPr>
          <p:cNvPr id="24" name="TextBox 23"/>
          <p:cNvSpPr txBox="1"/>
          <p:nvPr/>
        </p:nvSpPr>
        <p:spPr>
          <a:xfrm>
            <a:off x="3624846" y="3913822"/>
            <a:ext cx="3725640" cy="369332"/>
          </a:xfrm>
          <a:prstGeom prst="rect">
            <a:avLst/>
          </a:prstGeom>
          <a:noFill/>
        </p:spPr>
        <p:txBody>
          <a:bodyPr wrap="square" anchor="ctr">
            <a:spAutoFit/>
          </a:bodyPr>
          <a:lstStyle/>
          <a:p>
            <a:pPr algn="l"/>
            <a:r>
              <a:rPr b="0" i="0">
                <a:solidFill>
                  <a:srgbClr val="1F2933"/>
                </a:solidFill>
                <a:latin typeface="Calibri"/>
              </a:rPr>
              <a:t>frequent words</a:t>
            </a:r>
          </a:p>
        </p:txBody>
      </p:sp>
      <p:sp>
        <p:nvSpPr>
          <p:cNvPr id="25" name="TextBox 24"/>
          <p:cNvSpPr txBox="1"/>
          <p:nvPr/>
        </p:nvSpPr>
        <p:spPr>
          <a:xfrm>
            <a:off x="7716246" y="3913822"/>
            <a:ext cx="3725640" cy="369332"/>
          </a:xfrm>
          <a:prstGeom prst="rect">
            <a:avLst/>
          </a:prstGeom>
          <a:noFill/>
        </p:spPr>
        <p:txBody>
          <a:bodyPr wrap="square" anchor="ctr">
            <a:spAutoFit/>
          </a:bodyPr>
          <a:lstStyle/>
          <a:p>
            <a:pPr algn="l"/>
            <a:r>
              <a:rPr b="0" i="0">
                <a:solidFill>
                  <a:srgbClr val="1F2933"/>
                </a:solidFill>
                <a:latin typeface="Calibri"/>
              </a:rPr>
              <a:t>people, places, organisations</a:t>
            </a:r>
          </a:p>
        </p:txBody>
      </p:sp>
      <p:sp>
        <p:nvSpPr>
          <p:cNvPr id="26" name="Rectangle 25"/>
          <p:cNvSpPr/>
          <p:nvPr/>
        </p:nvSpPr>
        <p:spPr>
          <a:xfrm>
            <a:off x="566928" y="4336231"/>
            <a:ext cx="11057839" cy="475488"/>
          </a:xfrm>
          <a:prstGeom prst="rect">
            <a:avLst/>
          </a:prstGeom>
          <a:solidFill>
            <a:srgbClr val="F3F6F9"/>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7" name="TextBox 26"/>
          <p:cNvSpPr txBox="1"/>
          <p:nvPr/>
        </p:nvSpPr>
        <p:spPr>
          <a:xfrm>
            <a:off x="749808" y="4389309"/>
            <a:ext cx="2600718" cy="369332"/>
          </a:xfrm>
          <a:prstGeom prst="rect">
            <a:avLst/>
          </a:prstGeom>
          <a:noFill/>
        </p:spPr>
        <p:txBody>
          <a:bodyPr wrap="square" anchor="ctr">
            <a:spAutoFit/>
          </a:bodyPr>
          <a:lstStyle/>
          <a:p>
            <a:pPr algn="l"/>
            <a:r>
              <a:rPr b="1" i="0">
                <a:solidFill>
                  <a:srgbClr val="16324F"/>
                </a:solidFill>
                <a:latin typeface="Calibri"/>
              </a:rPr>
              <a:t>Repeatable</a:t>
            </a:r>
          </a:p>
        </p:txBody>
      </p:sp>
      <p:sp>
        <p:nvSpPr>
          <p:cNvPr id="28" name="TextBox 27"/>
          <p:cNvSpPr txBox="1"/>
          <p:nvPr/>
        </p:nvSpPr>
        <p:spPr>
          <a:xfrm>
            <a:off x="3624846" y="4389309"/>
            <a:ext cx="3725640" cy="369332"/>
          </a:xfrm>
          <a:prstGeom prst="rect">
            <a:avLst/>
          </a:prstGeom>
          <a:noFill/>
        </p:spPr>
        <p:txBody>
          <a:bodyPr wrap="square" anchor="ctr">
            <a:spAutoFit/>
          </a:bodyPr>
          <a:lstStyle/>
          <a:p>
            <a:pPr algn="l"/>
            <a:r>
              <a:rPr b="0" i="0">
                <a:solidFill>
                  <a:srgbClr val="1F2933"/>
                </a:solidFill>
                <a:latin typeface="Calibri"/>
              </a:rPr>
              <a:t>yes, it is arithmetic</a:t>
            </a:r>
          </a:p>
        </p:txBody>
      </p:sp>
      <p:sp>
        <p:nvSpPr>
          <p:cNvPr id="29" name="TextBox 28"/>
          <p:cNvSpPr txBox="1"/>
          <p:nvPr/>
        </p:nvSpPr>
        <p:spPr>
          <a:xfrm>
            <a:off x="7716246" y="4389309"/>
            <a:ext cx="3725640" cy="369332"/>
          </a:xfrm>
          <a:prstGeom prst="rect">
            <a:avLst/>
          </a:prstGeom>
          <a:noFill/>
        </p:spPr>
        <p:txBody>
          <a:bodyPr wrap="square" anchor="ctr">
            <a:spAutoFit/>
          </a:bodyPr>
          <a:lstStyle/>
          <a:p>
            <a:pPr algn="l"/>
            <a:r>
              <a:rPr b="0" i="0">
                <a:solidFill>
                  <a:srgbClr val="1F2933"/>
                </a:solidFill>
                <a:latin typeface="Calibri"/>
              </a:rPr>
              <a:t>not exactly, it is a reading</a:t>
            </a:r>
          </a:p>
        </p:txBody>
      </p:sp>
      <p:sp>
        <p:nvSpPr>
          <p:cNvPr id="30" name="Rectangle 29"/>
          <p:cNvSpPr/>
          <p:nvPr/>
        </p:nvSpPr>
        <p:spPr>
          <a:xfrm>
            <a:off x="566928" y="4811719"/>
            <a:ext cx="11057839" cy="475488"/>
          </a:xfrm>
          <a:prstGeom prst="rect">
            <a:avLst/>
          </a:prstGeom>
          <a:solidFill>
            <a:srgbClr val="FFFFFF"/>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1" name="TextBox 30"/>
          <p:cNvSpPr txBox="1"/>
          <p:nvPr/>
        </p:nvSpPr>
        <p:spPr>
          <a:xfrm>
            <a:off x="749808" y="4864797"/>
            <a:ext cx="2600718" cy="369332"/>
          </a:xfrm>
          <a:prstGeom prst="rect">
            <a:avLst/>
          </a:prstGeom>
          <a:noFill/>
        </p:spPr>
        <p:txBody>
          <a:bodyPr wrap="square" anchor="ctr">
            <a:spAutoFit/>
          </a:bodyPr>
          <a:lstStyle/>
          <a:p>
            <a:pPr algn="l"/>
            <a:r>
              <a:rPr b="1" i="0">
                <a:solidFill>
                  <a:srgbClr val="16324F"/>
                </a:solidFill>
                <a:latin typeface="Calibri"/>
              </a:rPr>
              <a:t>Needs checking</a:t>
            </a:r>
          </a:p>
        </p:txBody>
      </p:sp>
      <p:sp>
        <p:nvSpPr>
          <p:cNvPr id="32" name="TextBox 31"/>
          <p:cNvSpPr txBox="1"/>
          <p:nvPr/>
        </p:nvSpPr>
        <p:spPr>
          <a:xfrm>
            <a:off x="3624846" y="4864797"/>
            <a:ext cx="3725640" cy="369332"/>
          </a:xfrm>
          <a:prstGeom prst="rect">
            <a:avLst/>
          </a:prstGeom>
          <a:noFill/>
        </p:spPr>
        <p:txBody>
          <a:bodyPr wrap="square" anchor="ctr">
            <a:spAutoFit/>
          </a:bodyPr>
          <a:lstStyle/>
          <a:p>
            <a:pPr algn="l"/>
            <a:r>
              <a:rPr b="0" i="0">
                <a:solidFill>
                  <a:srgbClr val="1F2933"/>
                </a:solidFill>
                <a:latin typeface="Calibri"/>
              </a:rPr>
              <a:t>no</a:t>
            </a:r>
          </a:p>
        </p:txBody>
      </p:sp>
      <p:sp>
        <p:nvSpPr>
          <p:cNvPr id="33" name="TextBox 32"/>
          <p:cNvSpPr txBox="1"/>
          <p:nvPr/>
        </p:nvSpPr>
        <p:spPr>
          <a:xfrm>
            <a:off x="7716246" y="4864797"/>
            <a:ext cx="3725640" cy="369332"/>
          </a:xfrm>
          <a:prstGeom prst="rect">
            <a:avLst/>
          </a:prstGeom>
          <a:noFill/>
        </p:spPr>
        <p:txBody>
          <a:bodyPr wrap="square" anchor="ctr">
            <a:spAutoFit/>
          </a:bodyPr>
          <a:lstStyle/>
          <a:p>
            <a:pPr algn="l"/>
            <a:r>
              <a:rPr b="0" i="0">
                <a:solidFill>
                  <a:srgbClr val="1F2933"/>
                </a:solidFill>
                <a:latin typeface="Calibri"/>
              </a:rPr>
              <a:t>yes, every time</a:t>
            </a:r>
          </a:p>
        </p:txBody>
      </p:sp>
      <p:sp>
        <p:nvSpPr>
          <p:cNvPr id="34" name="TextBox 33"/>
          <p:cNvSpPr txBox="1"/>
          <p:nvPr/>
        </p:nvSpPr>
        <p:spPr>
          <a:xfrm>
            <a:off x="649224" y="6291072"/>
            <a:ext cx="11057839" cy="369332"/>
          </a:xfrm>
          <a:prstGeom prst="rect">
            <a:avLst/>
          </a:prstGeom>
          <a:noFill/>
        </p:spPr>
        <p:txBody>
          <a:bodyPr wrap="square" anchor="t">
            <a:spAutoFit/>
          </a:bodyPr>
          <a:lstStyle/>
          <a:p>
            <a:pPr algn="l"/>
            <a:r>
              <a:rPr b="0" i="1" dirty="0">
                <a:solidFill>
                  <a:srgbClr val="667685"/>
                </a:solidFill>
                <a:latin typeface="Calibri"/>
              </a:rPr>
              <a:t>Neither is better. They answer different questions, and the second costs you a checking step.</a:t>
            </a:r>
          </a:p>
        </p:txBody>
      </p:sp>
      <p:sp>
        <p:nvSpPr>
          <p:cNvPr id="38" name="Rectangle 37">
            <a:extLst>
              <a:ext uri="{FF2B5EF4-FFF2-40B4-BE49-F238E27FC236}">
                <a16:creationId xmlns:a16="http://schemas.microsoft.com/office/drawing/2014/main" id="{C06EEA78-1D75-D737-BD54-B10B07C071C5}"/>
              </a:ext>
            </a:extLst>
          </p:cNvPr>
          <p:cNvSpPr/>
          <p:nvPr/>
        </p:nvSpPr>
        <p:spPr>
          <a:xfrm>
            <a:off x="566928" y="367555"/>
            <a:ext cx="82296" cy="107497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Where this goes next</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We built one article as one figure. The same step, at scale, becomes a tool.</a:t>
            </a:r>
          </a:p>
        </p:txBody>
      </p:sp>
      <p:sp>
        <p:nvSpPr>
          <p:cNvPr id="5" name="Rounded Rectangle 4"/>
          <p:cNvSpPr/>
          <p:nvPr/>
        </p:nvSpPr>
        <p:spPr>
          <a:xfrm>
            <a:off x="566928" y="1600200"/>
            <a:ext cx="11057839" cy="120700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600200"/>
            <a:ext cx="50292" cy="1207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783080"/>
            <a:ext cx="10417759" cy="310896"/>
          </a:xfrm>
          <a:prstGeom prst="rect">
            <a:avLst/>
          </a:prstGeom>
          <a:noFill/>
        </p:spPr>
        <p:txBody>
          <a:bodyPr wrap="square" anchor="t">
            <a:spAutoFit/>
          </a:bodyPr>
          <a:lstStyle/>
          <a:p>
            <a:pPr algn="l"/>
            <a:r>
              <a:rPr sz="1650" b="1" i="0">
                <a:solidFill>
                  <a:srgbClr val="0E7C86"/>
                </a:solidFill>
                <a:latin typeface="Georgia"/>
              </a:rPr>
              <a:t>What we did</a:t>
            </a:r>
          </a:p>
        </p:txBody>
      </p:sp>
      <p:sp>
        <p:nvSpPr>
          <p:cNvPr id="8" name="TextBox 7"/>
          <p:cNvSpPr txBox="1"/>
          <p:nvPr/>
        </p:nvSpPr>
        <p:spPr>
          <a:xfrm>
            <a:off x="886968" y="2148840"/>
            <a:ext cx="10417759" cy="548640"/>
          </a:xfrm>
          <a:prstGeom prst="rect">
            <a:avLst/>
          </a:prstGeom>
          <a:noFill/>
        </p:spPr>
        <p:txBody>
          <a:bodyPr wrap="square" anchor="t">
            <a:spAutoFit/>
          </a:bodyPr>
          <a:lstStyle/>
          <a:p>
            <a:pPr algn="l"/>
            <a:r>
              <a:rPr sz="1350" b="0" i="0">
                <a:solidFill>
                  <a:srgbClr val="1F2933"/>
                </a:solidFill>
                <a:latin typeface="Calibri"/>
              </a:rPr>
              <a:t>One article. The model pulled out entities and relationships. We drew them.</a:t>
            </a:r>
          </a:p>
        </p:txBody>
      </p:sp>
      <p:sp>
        <p:nvSpPr>
          <p:cNvPr id="9" name="Rounded Rectangle 8"/>
          <p:cNvSpPr/>
          <p:nvPr/>
        </p:nvSpPr>
        <p:spPr>
          <a:xfrm>
            <a:off x="566928" y="2971800"/>
            <a:ext cx="11057839" cy="120700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66928" y="2971800"/>
            <a:ext cx="50292" cy="1207008"/>
          </a:xfrm>
          <a:prstGeom prst="rect">
            <a:avLst/>
          </a:prstGeom>
          <a:solidFill>
            <a:srgbClr val="2C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6968" y="3154680"/>
            <a:ext cx="10417759" cy="310896"/>
          </a:xfrm>
          <a:prstGeom prst="rect">
            <a:avLst/>
          </a:prstGeom>
          <a:noFill/>
        </p:spPr>
        <p:txBody>
          <a:bodyPr wrap="square" anchor="t">
            <a:spAutoFit/>
          </a:bodyPr>
          <a:lstStyle/>
          <a:p>
            <a:pPr algn="l"/>
            <a:r>
              <a:rPr sz="1650" b="1" i="0">
                <a:solidFill>
                  <a:srgbClr val="2C4A63"/>
                </a:solidFill>
                <a:latin typeface="Georgia"/>
              </a:rPr>
              <a:t>What tools like Neo4j do</a:t>
            </a:r>
          </a:p>
        </p:txBody>
      </p:sp>
      <p:sp>
        <p:nvSpPr>
          <p:cNvPr id="12" name="TextBox 11"/>
          <p:cNvSpPr txBox="1"/>
          <p:nvPr/>
        </p:nvSpPr>
        <p:spPr>
          <a:xfrm>
            <a:off x="886968" y="3520440"/>
            <a:ext cx="10417759" cy="548640"/>
          </a:xfrm>
          <a:prstGeom prst="rect">
            <a:avLst/>
          </a:prstGeom>
          <a:noFill/>
        </p:spPr>
        <p:txBody>
          <a:bodyPr wrap="square" anchor="t">
            <a:spAutoFit/>
          </a:bodyPr>
          <a:lstStyle/>
          <a:p>
            <a:pPr algn="l"/>
            <a:r>
              <a:rPr sz="1350" b="0" i="0">
                <a:solidFill>
                  <a:srgbClr val="1F2933"/>
                </a:solidFill>
                <a:latin typeface="Calibri"/>
              </a:rPr>
              <a:t>Hundreds of documents: reports, pages, transcripts. The same extraction, merged into one graph database.</a:t>
            </a:r>
          </a:p>
        </p:txBody>
      </p:sp>
      <p:sp>
        <p:nvSpPr>
          <p:cNvPr id="13" name="Rounded Rectangle 12"/>
          <p:cNvSpPr/>
          <p:nvPr/>
        </p:nvSpPr>
        <p:spPr>
          <a:xfrm>
            <a:off x="566928" y="4343400"/>
            <a:ext cx="11057839" cy="120700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66928" y="4343400"/>
            <a:ext cx="50292" cy="1207008"/>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4526280"/>
            <a:ext cx="10417759" cy="310896"/>
          </a:xfrm>
          <a:prstGeom prst="rect">
            <a:avLst/>
          </a:prstGeom>
          <a:noFill/>
        </p:spPr>
        <p:txBody>
          <a:bodyPr wrap="square" anchor="t">
            <a:spAutoFit/>
          </a:bodyPr>
          <a:lstStyle/>
          <a:p>
            <a:pPr algn="l"/>
            <a:r>
              <a:rPr sz="1650" b="1" i="0">
                <a:solidFill>
                  <a:srgbClr val="C05746"/>
                </a:solidFill>
                <a:latin typeface="Georgia"/>
              </a:rPr>
              <a:t>What that buys</a:t>
            </a:r>
          </a:p>
        </p:txBody>
      </p:sp>
      <p:sp>
        <p:nvSpPr>
          <p:cNvPr id="16" name="TextBox 15"/>
          <p:cNvSpPr txBox="1"/>
          <p:nvPr/>
        </p:nvSpPr>
        <p:spPr>
          <a:xfrm>
            <a:off x="886968" y="4892040"/>
            <a:ext cx="10417759" cy="548640"/>
          </a:xfrm>
          <a:prstGeom prst="rect">
            <a:avLst/>
          </a:prstGeom>
          <a:noFill/>
        </p:spPr>
        <p:txBody>
          <a:bodyPr wrap="square" anchor="t">
            <a:spAutoFit/>
          </a:bodyPr>
          <a:lstStyle/>
          <a:p>
            <a:pPr algn="l"/>
            <a:r>
              <a:rPr sz="1350" b="0" i="0">
                <a:solidFill>
                  <a:srgbClr val="1F2933"/>
                </a:solidFill>
                <a:latin typeface="Calibri"/>
              </a:rPr>
              <a:t>You stop looking at the graph and start asking it questions. The figure becomes something you can query.</a:t>
            </a:r>
          </a:p>
        </p:txBody>
      </p:sp>
      <p:sp>
        <p:nvSpPr>
          <p:cNvPr id="17" name="TextBox 16"/>
          <p:cNvSpPr txBox="1"/>
          <p:nvPr/>
        </p:nvSpPr>
        <p:spPr>
          <a:xfrm>
            <a:off x="566927" y="6267879"/>
            <a:ext cx="11057839" cy="400110"/>
          </a:xfrm>
          <a:prstGeom prst="rect">
            <a:avLst/>
          </a:prstGeom>
          <a:noFill/>
        </p:spPr>
        <p:txBody>
          <a:bodyPr wrap="square" anchor="t">
            <a:spAutoFit/>
          </a:bodyPr>
          <a:lstStyle/>
          <a:p>
            <a:pPr algn="l"/>
            <a:r>
              <a:rPr sz="2000" b="1" i="0" dirty="0">
                <a:solidFill>
                  <a:srgbClr val="16324F"/>
                </a:solidFill>
                <a:latin typeface="Calibri"/>
              </a:rPr>
              <a:t>The extraction step you just saw is the core of it. The rest is storage and scale.</a:t>
            </a:r>
          </a:p>
        </p:txBody>
      </p:sp>
      <p:sp>
        <p:nvSpPr>
          <p:cNvPr id="21" name="Rectangle 20">
            <a:extLst>
              <a:ext uri="{FF2B5EF4-FFF2-40B4-BE49-F238E27FC236}">
                <a16:creationId xmlns:a16="http://schemas.microsoft.com/office/drawing/2014/main" id="{2F766E73-5AD5-DCDA-0891-723A8051AFA6}"/>
              </a:ext>
            </a:extLst>
          </p:cNvPr>
          <p:cNvSpPr/>
          <p:nvPr/>
        </p:nvSpPr>
        <p:spPr>
          <a:xfrm>
            <a:off x="566928" y="367555"/>
            <a:ext cx="82296" cy="107497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4" name="TextBox 3"/>
          <p:cNvSpPr txBox="1"/>
          <p:nvPr/>
        </p:nvSpPr>
        <p:spPr>
          <a:xfrm>
            <a:off x="1005840" y="2514600"/>
            <a:ext cx="7315200" cy="400110"/>
          </a:xfrm>
          <a:prstGeom prst="rect">
            <a:avLst/>
          </a:prstGeom>
          <a:noFill/>
        </p:spPr>
        <p:txBody>
          <a:bodyPr wrap="square" anchor="t">
            <a:spAutoFit/>
          </a:bodyPr>
          <a:lstStyle/>
          <a:p>
            <a:pPr algn="l"/>
            <a:r>
              <a:rPr sz="2000" b="1" i="0" dirty="0">
                <a:solidFill>
                  <a:srgbClr val="9FC4D6"/>
                </a:solidFill>
                <a:latin typeface="Calibri"/>
              </a:rPr>
              <a:t>PART </a:t>
            </a:r>
            <a:r>
              <a:rPr lang="en-US" sz="2000" b="1" i="0" dirty="0">
                <a:solidFill>
                  <a:srgbClr val="9FC4D6"/>
                </a:solidFill>
                <a:latin typeface="Calibri"/>
              </a:rPr>
              <a:t>TWO</a:t>
            </a:r>
            <a:endParaRPr sz="2000" b="1" i="0" dirty="0">
              <a:solidFill>
                <a:srgbClr val="9FC4D6"/>
              </a:solidFill>
              <a:latin typeface="Calibri"/>
            </a:endParaRPr>
          </a:p>
        </p:txBody>
      </p:sp>
      <p:sp>
        <p:nvSpPr>
          <p:cNvPr id="5" name="TextBox 4"/>
          <p:cNvSpPr txBox="1"/>
          <p:nvPr/>
        </p:nvSpPr>
        <p:spPr>
          <a:xfrm>
            <a:off x="960120" y="2986935"/>
            <a:ext cx="10058400" cy="1015663"/>
          </a:xfrm>
          <a:prstGeom prst="rect">
            <a:avLst/>
          </a:prstGeom>
          <a:noFill/>
        </p:spPr>
        <p:txBody>
          <a:bodyPr wrap="square" anchor="t">
            <a:spAutoFit/>
          </a:bodyPr>
          <a:lstStyle/>
          <a:p>
            <a:pPr algn="l"/>
            <a:r>
              <a:rPr lang="en-US" sz="6000" b="1" i="0" dirty="0">
                <a:solidFill>
                  <a:srgbClr val="FFFFFF"/>
                </a:solidFill>
                <a:latin typeface="Georgia"/>
              </a:rPr>
              <a:t>Themes over time</a:t>
            </a:r>
          </a:p>
        </p:txBody>
      </p:sp>
      <p:sp>
        <p:nvSpPr>
          <p:cNvPr id="6" name="TextBox 5"/>
          <p:cNvSpPr txBox="1"/>
          <p:nvPr/>
        </p:nvSpPr>
        <p:spPr>
          <a:xfrm>
            <a:off x="1005840" y="4100001"/>
            <a:ext cx="9144000" cy="584775"/>
          </a:xfrm>
          <a:prstGeom prst="rect">
            <a:avLst/>
          </a:prstGeom>
          <a:noFill/>
        </p:spPr>
        <p:txBody>
          <a:bodyPr wrap="square" anchor="t">
            <a:spAutoFit/>
          </a:bodyPr>
          <a:lstStyle/>
          <a:p>
            <a:pPr algn="l"/>
            <a:r>
              <a:rPr lang="en-US" sz="3200" b="0" i="0" dirty="0">
                <a:solidFill>
                  <a:srgbClr val="C9DCE7"/>
                </a:solidFill>
                <a:latin typeface="Calibri"/>
              </a:rPr>
              <a:t>The same article, and how what it says has changed</a:t>
            </a:r>
          </a:p>
        </p:txBody>
      </p:sp>
      <p:sp>
        <p:nvSpPr>
          <p:cNvPr id="7" name="Rectangle 6">
            <a:extLst>
              <a:ext uri="{FF2B5EF4-FFF2-40B4-BE49-F238E27FC236}">
                <a16:creationId xmlns:a16="http://schemas.microsoft.com/office/drawing/2014/main" id="{1738DBE0-7705-7B17-A714-9794AD218DC6}"/>
              </a:ext>
            </a:extLst>
          </p:cNvPr>
          <p:cNvSpPr/>
          <p:nvPr/>
        </p:nvSpPr>
        <p:spPr>
          <a:xfrm>
            <a:off x="0" y="0"/>
            <a:ext cx="146304"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Tree>
    <p:extLst>
      <p:ext uri="{BB962C8B-B14F-4D97-AF65-F5344CB8AC3E}">
        <p14:creationId xmlns:p14="http://schemas.microsoft.com/office/powerpoint/2010/main" val="4064931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What is a topic model?</a:t>
            </a:r>
          </a:p>
        </p:txBody>
      </p:sp>
      <p:sp>
        <p:nvSpPr>
          <p:cNvPr id="4" name="TextBox 3"/>
          <p:cNvSpPr txBox="1"/>
          <p:nvPr/>
        </p:nvSpPr>
        <p:spPr>
          <a:xfrm>
            <a:off x="804672" y="1042415"/>
            <a:ext cx="10783519" cy="400110"/>
          </a:xfrm>
          <a:prstGeom prst="rect">
            <a:avLst/>
          </a:prstGeom>
          <a:noFill/>
        </p:spPr>
        <p:txBody>
          <a:bodyPr wrap="square" anchor="t">
            <a:spAutoFit/>
          </a:bodyPr>
          <a:lstStyle/>
          <a:p>
            <a:pPr algn="l"/>
            <a:r>
              <a:rPr sz="2000" b="0" i="0" dirty="0">
                <a:solidFill>
                  <a:srgbClr val="667685"/>
                </a:solidFill>
                <a:latin typeface="Calibri"/>
              </a:rPr>
              <a:t>It finds themes by noticing which words keep company across documents.</a:t>
            </a:r>
          </a:p>
        </p:txBody>
      </p:sp>
      <p:sp>
        <p:nvSpPr>
          <p:cNvPr id="5" name="Rounded Rectangle 4"/>
          <p:cNvSpPr/>
          <p:nvPr/>
        </p:nvSpPr>
        <p:spPr>
          <a:xfrm>
            <a:off x="566928" y="2032000"/>
            <a:ext cx="5528919" cy="430106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859536" y="2308083"/>
            <a:ext cx="4943703" cy="1323439"/>
          </a:xfrm>
          <a:prstGeom prst="rect">
            <a:avLst/>
          </a:prstGeom>
          <a:noFill/>
        </p:spPr>
        <p:txBody>
          <a:bodyPr wrap="square" anchor="t">
            <a:spAutoFit/>
          </a:bodyPr>
          <a:lstStyle/>
          <a:p>
            <a:pPr algn="l"/>
            <a:r>
              <a:rPr sz="2000" b="1" i="0" dirty="0">
                <a:solidFill>
                  <a:srgbClr val="2C4A63"/>
                </a:solidFill>
                <a:latin typeface="Calibri"/>
              </a:rPr>
              <a:t>Nobody supplies the themes.  </a:t>
            </a:r>
            <a:r>
              <a:rPr sz="2000" b="0" i="0" dirty="0">
                <a:solidFill>
                  <a:srgbClr val="1F2933"/>
                </a:solidFill>
                <a:latin typeface="Calibri"/>
              </a:rPr>
              <a:t>The model reads the documents and works out that some words travel together. Each group is a theme.</a:t>
            </a:r>
          </a:p>
        </p:txBody>
      </p:sp>
      <p:sp>
        <p:nvSpPr>
          <p:cNvPr id="7" name="TextBox 6"/>
          <p:cNvSpPr txBox="1"/>
          <p:nvPr/>
        </p:nvSpPr>
        <p:spPr>
          <a:xfrm>
            <a:off x="859535" y="3756461"/>
            <a:ext cx="4943703" cy="1015663"/>
          </a:xfrm>
          <a:prstGeom prst="rect">
            <a:avLst/>
          </a:prstGeom>
          <a:noFill/>
        </p:spPr>
        <p:txBody>
          <a:bodyPr wrap="square" anchor="t">
            <a:spAutoFit/>
          </a:bodyPr>
          <a:lstStyle/>
          <a:p>
            <a:pPr algn="l"/>
            <a:r>
              <a:rPr sz="2000" b="1" i="0" dirty="0">
                <a:solidFill>
                  <a:srgbClr val="2C4A63"/>
                </a:solidFill>
                <a:latin typeface="Calibri"/>
              </a:rPr>
              <a:t>Every document is a mixture.  </a:t>
            </a:r>
            <a:r>
              <a:rPr sz="2000" b="0" i="0" dirty="0">
                <a:solidFill>
                  <a:srgbClr val="1F2933"/>
                </a:solidFill>
                <a:latin typeface="Calibri"/>
              </a:rPr>
              <a:t>One chunk of text might be 30% one theme, 20% another. The shares add to 100%.</a:t>
            </a:r>
          </a:p>
        </p:txBody>
      </p:sp>
      <p:sp>
        <p:nvSpPr>
          <p:cNvPr id="8" name="TextBox 7"/>
          <p:cNvSpPr txBox="1"/>
          <p:nvPr/>
        </p:nvSpPr>
        <p:spPr>
          <a:xfrm>
            <a:off x="859536" y="4980836"/>
            <a:ext cx="4943703" cy="1015663"/>
          </a:xfrm>
          <a:prstGeom prst="rect">
            <a:avLst/>
          </a:prstGeom>
          <a:noFill/>
        </p:spPr>
        <p:txBody>
          <a:bodyPr wrap="square" anchor="t">
            <a:spAutoFit/>
          </a:bodyPr>
          <a:lstStyle/>
          <a:p>
            <a:pPr algn="l"/>
            <a:r>
              <a:rPr sz="2000" b="1" i="0" dirty="0">
                <a:solidFill>
                  <a:srgbClr val="2C4A63"/>
                </a:solidFill>
                <a:latin typeface="Calibri"/>
              </a:rPr>
              <a:t>The time part.  </a:t>
            </a:r>
            <a:r>
              <a:rPr sz="2000" b="0" i="0" dirty="0">
                <a:solidFill>
                  <a:srgbClr val="1F2933"/>
                </a:solidFill>
                <a:latin typeface="Calibri"/>
              </a:rPr>
              <a:t>Because each version carries its year, we plot the shares against time and watch a theme rise or fall.</a:t>
            </a:r>
          </a:p>
        </p:txBody>
      </p:sp>
      <p:sp>
        <p:nvSpPr>
          <p:cNvPr id="9" name="Rounded Rectangle 8"/>
          <p:cNvSpPr/>
          <p:nvPr/>
        </p:nvSpPr>
        <p:spPr>
          <a:xfrm>
            <a:off x="6538161" y="2032000"/>
            <a:ext cx="5086606" cy="4301067"/>
          </a:xfrm>
          <a:prstGeom prst="roundRect">
            <a:avLst>
              <a:gd name="adj" fmla="val 6000"/>
            </a:avLst>
          </a:prstGeom>
          <a:solidFill>
            <a:srgbClr val="E8EF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TextBox 9"/>
          <p:cNvSpPr txBox="1"/>
          <p:nvPr/>
        </p:nvSpPr>
        <p:spPr>
          <a:xfrm>
            <a:off x="6830769" y="2358064"/>
            <a:ext cx="4572000" cy="400110"/>
          </a:xfrm>
          <a:prstGeom prst="rect">
            <a:avLst/>
          </a:prstGeom>
          <a:noFill/>
        </p:spPr>
        <p:txBody>
          <a:bodyPr wrap="square" anchor="t">
            <a:spAutoFit/>
          </a:bodyPr>
          <a:lstStyle/>
          <a:p>
            <a:pPr algn="l"/>
            <a:r>
              <a:rPr sz="2000" b="1" i="0" dirty="0">
                <a:solidFill>
                  <a:srgbClr val="16324F"/>
                </a:solidFill>
                <a:latin typeface="Georgia"/>
              </a:rPr>
              <a:t>What the model gives back</a:t>
            </a:r>
          </a:p>
        </p:txBody>
      </p:sp>
      <p:sp>
        <p:nvSpPr>
          <p:cNvPr id="11" name="TextBox 10"/>
          <p:cNvSpPr txBox="1"/>
          <p:nvPr/>
        </p:nvSpPr>
        <p:spPr>
          <a:xfrm>
            <a:off x="6830769" y="3002281"/>
            <a:ext cx="4572000" cy="707886"/>
          </a:xfrm>
          <a:prstGeom prst="rect">
            <a:avLst/>
          </a:prstGeom>
          <a:noFill/>
        </p:spPr>
        <p:txBody>
          <a:bodyPr wrap="square" anchor="t">
            <a:spAutoFit/>
          </a:bodyPr>
          <a:lstStyle/>
          <a:p>
            <a:pPr algn="just"/>
            <a:r>
              <a:rPr sz="2000" b="1" i="0" dirty="0">
                <a:solidFill>
                  <a:srgbClr val="0E7C86"/>
                </a:solidFill>
                <a:latin typeface="Consolas"/>
              </a:rPr>
              <a:t>theta</a:t>
            </a:r>
            <a:r>
              <a:rPr sz="2000" b="0" i="0" dirty="0">
                <a:solidFill>
                  <a:srgbClr val="1F2933"/>
                </a:solidFill>
                <a:latin typeface="Calibri"/>
              </a:rPr>
              <a:t>: one row per document, one column per theme.</a:t>
            </a:r>
          </a:p>
        </p:txBody>
      </p:sp>
      <p:sp>
        <p:nvSpPr>
          <p:cNvPr id="12" name="Rounded Rectangle 11"/>
          <p:cNvSpPr/>
          <p:nvPr/>
        </p:nvSpPr>
        <p:spPr>
          <a:xfrm>
            <a:off x="6830769" y="3854025"/>
            <a:ext cx="4501390" cy="1234440"/>
          </a:xfrm>
          <a:prstGeom prst="roundRect">
            <a:avLst>
              <a:gd name="adj" fmla="val 6000"/>
            </a:avLst>
          </a:prstGeom>
          <a:solidFill>
            <a:srgbClr val="FFFFFF"/>
          </a:solidFill>
          <a:ln w="15240">
            <a:solidFill>
              <a:srgbClr val="E8EF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3" name="TextBox 12"/>
          <p:cNvSpPr txBox="1"/>
          <p:nvPr/>
        </p:nvSpPr>
        <p:spPr>
          <a:xfrm>
            <a:off x="6949641" y="3945465"/>
            <a:ext cx="2868093" cy="1148391"/>
          </a:xfrm>
          <a:prstGeom prst="rect">
            <a:avLst/>
          </a:prstGeom>
          <a:noFill/>
        </p:spPr>
        <p:txBody>
          <a:bodyPr wrap="none">
            <a:spAutoFit/>
          </a:bodyPr>
          <a:lstStyle/>
          <a:p>
            <a:pPr>
              <a:lnSpc>
                <a:spcPct val="125000"/>
              </a:lnSpc>
            </a:pPr>
            <a:r>
              <a:rPr sz="1400">
                <a:solidFill>
                  <a:srgbClr val="667685"/>
                </a:solidFill>
                <a:latin typeface="Consolas"/>
              </a:rPr>
              <a:t>          T1     T2     T3</a:t>
            </a:r>
          </a:p>
          <a:p>
            <a:pPr>
              <a:lnSpc>
                <a:spcPct val="125000"/>
              </a:lnSpc>
            </a:pPr>
            <a:r>
              <a:rPr sz="1400">
                <a:solidFill>
                  <a:srgbClr val="1F2933"/>
                </a:solidFill>
                <a:latin typeface="Consolas"/>
              </a:rPr>
              <a:t>2015     0.22   0.30   0.13</a:t>
            </a:r>
          </a:p>
          <a:p>
            <a:pPr>
              <a:lnSpc>
                <a:spcPct val="125000"/>
              </a:lnSpc>
            </a:pPr>
            <a:r>
              <a:rPr sz="1400">
                <a:solidFill>
                  <a:srgbClr val="1F2933"/>
                </a:solidFill>
                <a:latin typeface="Consolas"/>
              </a:rPr>
              <a:t>2016     0.23   0.27   0.17</a:t>
            </a:r>
          </a:p>
          <a:p>
            <a:pPr>
              <a:lnSpc>
                <a:spcPct val="125000"/>
              </a:lnSpc>
            </a:pPr>
            <a:r>
              <a:rPr sz="1400">
                <a:solidFill>
                  <a:srgbClr val="1F2933"/>
                </a:solidFill>
                <a:latin typeface="Consolas"/>
              </a:rPr>
              <a:t>2017     0.22   0.26   0.15</a:t>
            </a:r>
          </a:p>
        </p:txBody>
      </p:sp>
      <p:sp>
        <p:nvSpPr>
          <p:cNvPr id="14" name="TextBox 13"/>
          <p:cNvSpPr txBox="1"/>
          <p:nvPr/>
        </p:nvSpPr>
        <p:spPr>
          <a:xfrm>
            <a:off x="6809898" y="5461642"/>
            <a:ext cx="4501390" cy="707886"/>
          </a:xfrm>
          <a:prstGeom prst="rect">
            <a:avLst/>
          </a:prstGeom>
          <a:noFill/>
        </p:spPr>
        <p:txBody>
          <a:bodyPr wrap="square" anchor="t">
            <a:spAutoFit/>
          </a:bodyPr>
          <a:lstStyle/>
          <a:p>
            <a:pPr algn="just"/>
            <a:r>
              <a:rPr sz="2000" b="0" i="0" dirty="0">
                <a:solidFill>
                  <a:srgbClr val="667685"/>
                </a:solidFill>
                <a:latin typeface="Calibri"/>
              </a:rPr>
              <a:t>Each row adds to 1. Plot a column against date and that is the chart.</a:t>
            </a:r>
          </a:p>
        </p:txBody>
      </p:sp>
      <p:sp>
        <p:nvSpPr>
          <p:cNvPr id="18" name="Rectangle 17">
            <a:extLst>
              <a:ext uri="{FF2B5EF4-FFF2-40B4-BE49-F238E27FC236}">
                <a16:creationId xmlns:a16="http://schemas.microsoft.com/office/drawing/2014/main" id="{C2744F66-B9A3-70BE-90B8-FBDB6BFB05E8}"/>
              </a:ext>
            </a:extLst>
          </p:cNvPr>
          <p:cNvSpPr/>
          <p:nvPr/>
        </p:nvSpPr>
        <p:spPr>
          <a:xfrm>
            <a:off x="566928" y="367555"/>
            <a:ext cx="82296" cy="107497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822961"/>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The code, in outline</a:t>
            </a:r>
          </a:p>
        </p:txBody>
      </p:sp>
      <p:sp>
        <p:nvSpPr>
          <p:cNvPr id="4" name="TextBox 3"/>
          <p:cNvSpPr txBox="1"/>
          <p:nvPr/>
        </p:nvSpPr>
        <p:spPr>
          <a:xfrm>
            <a:off x="804672" y="982646"/>
            <a:ext cx="10783519" cy="400110"/>
          </a:xfrm>
          <a:prstGeom prst="rect">
            <a:avLst/>
          </a:prstGeom>
          <a:noFill/>
        </p:spPr>
        <p:txBody>
          <a:bodyPr wrap="square" anchor="t">
            <a:spAutoFit/>
          </a:bodyPr>
          <a:lstStyle/>
          <a:p>
            <a:pPr algn="l"/>
            <a:r>
              <a:rPr sz="2000" b="0" i="0" dirty="0">
                <a:solidFill>
                  <a:srgbClr val="667685"/>
                </a:solidFill>
                <a:latin typeface="Calibri"/>
              </a:rPr>
              <a:t>Three stages. The full scripts are 06, 07 and 09.</a:t>
            </a:r>
          </a:p>
        </p:txBody>
      </p:sp>
      <p:sp>
        <p:nvSpPr>
          <p:cNvPr id="5" name="Rounded Rectangle 4"/>
          <p:cNvSpPr/>
          <p:nvPr/>
        </p:nvSpPr>
        <p:spPr>
          <a:xfrm>
            <a:off x="566928" y="1600200"/>
            <a:ext cx="11057839" cy="4867734"/>
          </a:xfrm>
          <a:prstGeom prst="roundRect">
            <a:avLst>
              <a:gd name="adj" fmla="val 6000"/>
            </a:avLst>
          </a:prstGeom>
          <a:solidFill>
            <a:srgbClr val="12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6383" y="1881969"/>
            <a:ext cx="10406549" cy="4217180"/>
          </a:xfrm>
          <a:prstGeom prst="rect">
            <a:avLst/>
          </a:prstGeom>
          <a:noFill/>
        </p:spPr>
        <p:txBody>
          <a:bodyPr wrap="square">
            <a:spAutoFit/>
          </a:bodyPr>
          <a:lstStyle/>
          <a:p>
            <a:pPr>
              <a:lnSpc>
                <a:spcPct val="118000"/>
              </a:lnSpc>
            </a:pPr>
            <a:r>
              <a:rPr sz="1200" dirty="0">
                <a:solidFill>
                  <a:srgbClr val="7FB8C4"/>
                </a:solidFill>
                <a:latin typeface="Consolas"/>
              </a:rPr>
              <a:t># 1. dated documents -&gt; a table of word counts</a:t>
            </a:r>
          </a:p>
          <a:p>
            <a:pPr>
              <a:lnSpc>
                <a:spcPct val="118000"/>
              </a:lnSpc>
            </a:pPr>
            <a:r>
              <a:rPr sz="1200" dirty="0" err="1">
                <a:solidFill>
                  <a:srgbClr val="DCE6EE"/>
                </a:solidFill>
                <a:latin typeface="Consolas"/>
              </a:rPr>
              <a:t>dfm_topic</a:t>
            </a:r>
            <a:r>
              <a:rPr sz="1200" dirty="0">
                <a:solidFill>
                  <a:srgbClr val="DCE6EE"/>
                </a:solidFill>
                <a:latin typeface="Consolas"/>
              </a:rPr>
              <a:t> &lt;- corpus(</a:t>
            </a:r>
            <a:r>
              <a:rPr sz="1200" dirty="0" err="1">
                <a:solidFill>
                  <a:srgbClr val="DCE6EE"/>
                </a:solidFill>
                <a:latin typeface="Consolas"/>
              </a:rPr>
              <a:t>yearly_chunks</a:t>
            </a:r>
            <a:r>
              <a:rPr sz="1200" dirty="0">
                <a:solidFill>
                  <a:srgbClr val="DCE6EE"/>
                </a:solidFill>
                <a:latin typeface="Consolas"/>
              </a:rPr>
              <a:t>) %&gt;%</a:t>
            </a:r>
          </a:p>
          <a:p>
            <a:pPr>
              <a:lnSpc>
                <a:spcPct val="118000"/>
              </a:lnSpc>
            </a:pPr>
            <a:r>
              <a:rPr sz="1200" dirty="0">
                <a:solidFill>
                  <a:srgbClr val="DCE6EE"/>
                </a:solidFill>
                <a:latin typeface="Consolas"/>
              </a:rPr>
              <a:t>  tokens(</a:t>
            </a:r>
            <a:r>
              <a:rPr sz="1200" dirty="0" err="1">
                <a:solidFill>
                  <a:srgbClr val="DCE6EE"/>
                </a:solidFill>
                <a:latin typeface="Consolas"/>
              </a:rPr>
              <a:t>remove_punct</a:t>
            </a:r>
            <a:r>
              <a:rPr sz="1200" dirty="0">
                <a:solidFill>
                  <a:srgbClr val="DCE6EE"/>
                </a:solidFill>
                <a:latin typeface="Consolas"/>
              </a:rPr>
              <a:t> = TRUE) %&gt;%</a:t>
            </a:r>
          </a:p>
          <a:p>
            <a:pPr>
              <a:lnSpc>
                <a:spcPct val="118000"/>
              </a:lnSpc>
            </a:pPr>
            <a:r>
              <a:rPr sz="1200" dirty="0">
                <a:solidFill>
                  <a:srgbClr val="DCE6EE"/>
                </a:solidFill>
                <a:latin typeface="Consolas"/>
              </a:rPr>
              <a:t>  </a:t>
            </a:r>
            <a:r>
              <a:rPr sz="1200" dirty="0" err="1">
                <a:solidFill>
                  <a:srgbClr val="DCE6EE"/>
                </a:solidFill>
                <a:latin typeface="Consolas"/>
              </a:rPr>
              <a:t>tokens_remove</a:t>
            </a:r>
            <a:r>
              <a:rPr sz="1200" dirty="0">
                <a:solidFill>
                  <a:srgbClr val="DCE6EE"/>
                </a:solidFill>
                <a:latin typeface="Consolas"/>
              </a:rPr>
              <a:t>(</a:t>
            </a:r>
            <a:r>
              <a:rPr sz="1200" dirty="0" err="1">
                <a:solidFill>
                  <a:srgbClr val="DCE6EE"/>
                </a:solidFill>
                <a:latin typeface="Consolas"/>
              </a:rPr>
              <a:t>stopwords</a:t>
            </a:r>
            <a:r>
              <a:rPr sz="1200" dirty="0">
                <a:solidFill>
                  <a:srgbClr val="DCE6EE"/>
                </a:solidFill>
                <a:latin typeface="Consolas"/>
              </a:rPr>
              <a:t>("</a:t>
            </a:r>
            <a:r>
              <a:rPr sz="1200" dirty="0" err="1">
                <a:solidFill>
                  <a:srgbClr val="DCE6EE"/>
                </a:solidFill>
                <a:latin typeface="Consolas"/>
              </a:rPr>
              <a:t>en</a:t>
            </a:r>
            <a:r>
              <a:rPr sz="1200" dirty="0">
                <a:solidFill>
                  <a:srgbClr val="DCE6EE"/>
                </a:solidFill>
                <a:latin typeface="Consolas"/>
              </a:rPr>
              <a:t>")) %&gt;%</a:t>
            </a:r>
          </a:p>
          <a:p>
            <a:pPr>
              <a:lnSpc>
                <a:spcPct val="118000"/>
              </a:lnSpc>
            </a:pPr>
            <a:r>
              <a:rPr sz="1200" dirty="0">
                <a:solidFill>
                  <a:srgbClr val="DCE6EE"/>
                </a:solidFill>
                <a:latin typeface="Consolas"/>
              </a:rPr>
              <a:t>  </a:t>
            </a:r>
            <a:r>
              <a:rPr sz="1200" dirty="0" err="1">
                <a:solidFill>
                  <a:srgbClr val="DCE6EE"/>
                </a:solidFill>
                <a:latin typeface="Consolas"/>
              </a:rPr>
              <a:t>tokens_wordstem</a:t>
            </a:r>
            <a:r>
              <a:rPr sz="1200" dirty="0">
                <a:solidFill>
                  <a:srgbClr val="DCE6EE"/>
                </a:solidFill>
                <a:latin typeface="Consolas"/>
              </a:rPr>
              <a:t>() %&gt;%              # govern, governing -&gt; govern</a:t>
            </a:r>
          </a:p>
          <a:p>
            <a:pPr>
              <a:lnSpc>
                <a:spcPct val="118000"/>
              </a:lnSpc>
            </a:pPr>
            <a:r>
              <a:rPr sz="1200" dirty="0">
                <a:solidFill>
                  <a:srgbClr val="DCE6EE"/>
                </a:solidFill>
                <a:latin typeface="Consolas"/>
              </a:rPr>
              <a:t>  </a:t>
            </a:r>
            <a:r>
              <a:rPr sz="1200" dirty="0" err="1">
                <a:solidFill>
                  <a:srgbClr val="DCE6EE"/>
                </a:solidFill>
                <a:latin typeface="Consolas"/>
              </a:rPr>
              <a:t>dfm</a:t>
            </a:r>
            <a:r>
              <a:rPr sz="1200" dirty="0">
                <a:solidFill>
                  <a:srgbClr val="DCE6EE"/>
                </a:solidFill>
                <a:latin typeface="Consolas"/>
              </a:rPr>
              <a:t>()</a:t>
            </a:r>
          </a:p>
          <a:p>
            <a:pPr>
              <a:lnSpc>
                <a:spcPct val="118000"/>
              </a:lnSpc>
            </a:pPr>
            <a:r>
              <a:rPr sz="1200" dirty="0">
                <a:solidFill>
                  <a:srgbClr val="DCE6EE"/>
                </a:solidFill>
                <a:latin typeface="Consolas"/>
              </a:rPr>
              <a:t> </a:t>
            </a:r>
          </a:p>
          <a:p>
            <a:pPr>
              <a:lnSpc>
                <a:spcPct val="118000"/>
              </a:lnSpc>
            </a:pPr>
            <a:r>
              <a:rPr sz="1200" dirty="0">
                <a:solidFill>
                  <a:srgbClr val="7FB8C4"/>
                </a:solidFill>
                <a:latin typeface="Consolas"/>
              </a:rPr>
              <a:t># 2. fit the model, letting themes move with the year</a:t>
            </a:r>
          </a:p>
          <a:p>
            <a:pPr>
              <a:lnSpc>
                <a:spcPct val="118000"/>
              </a:lnSpc>
            </a:pPr>
            <a:r>
              <a:rPr sz="1200" dirty="0">
                <a:solidFill>
                  <a:srgbClr val="DCE6EE"/>
                </a:solidFill>
                <a:latin typeface="Consolas"/>
              </a:rPr>
              <a:t>fit &lt;- </a:t>
            </a:r>
            <a:r>
              <a:rPr sz="1200" dirty="0" err="1">
                <a:solidFill>
                  <a:srgbClr val="DCE6EE"/>
                </a:solidFill>
                <a:latin typeface="Consolas"/>
              </a:rPr>
              <a:t>stm</a:t>
            </a:r>
            <a:r>
              <a:rPr sz="1200" dirty="0">
                <a:solidFill>
                  <a:srgbClr val="DCE6EE"/>
                </a:solidFill>
                <a:latin typeface="Consolas"/>
              </a:rPr>
              <a:t>(</a:t>
            </a:r>
            <a:r>
              <a:rPr sz="1200" dirty="0" err="1">
                <a:solidFill>
                  <a:srgbClr val="DCE6EE"/>
                </a:solidFill>
                <a:latin typeface="Consolas"/>
              </a:rPr>
              <a:t>quanteda</a:t>
            </a:r>
            <a:r>
              <a:rPr sz="1200" dirty="0">
                <a:solidFill>
                  <a:srgbClr val="DCE6EE"/>
                </a:solidFill>
                <a:latin typeface="Consolas"/>
              </a:rPr>
              <a:t>::convert(</a:t>
            </a:r>
            <a:r>
              <a:rPr sz="1200" dirty="0" err="1">
                <a:solidFill>
                  <a:srgbClr val="DCE6EE"/>
                </a:solidFill>
                <a:latin typeface="Consolas"/>
              </a:rPr>
              <a:t>dfm_topic</a:t>
            </a:r>
            <a:r>
              <a:rPr sz="1200" dirty="0">
                <a:solidFill>
                  <a:srgbClr val="DCE6EE"/>
                </a:solidFill>
                <a:latin typeface="Consolas"/>
              </a:rPr>
              <a:t>, to = "</a:t>
            </a:r>
            <a:r>
              <a:rPr sz="1200" dirty="0" err="1">
                <a:solidFill>
                  <a:srgbClr val="DCE6EE"/>
                </a:solidFill>
                <a:latin typeface="Consolas"/>
              </a:rPr>
              <a:t>stm</a:t>
            </a:r>
            <a:r>
              <a:rPr sz="1200" dirty="0">
                <a:solidFill>
                  <a:srgbClr val="DCE6EE"/>
                </a:solidFill>
                <a:latin typeface="Consolas"/>
              </a:rPr>
              <a:t>"),</a:t>
            </a:r>
          </a:p>
          <a:p>
            <a:pPr>
              <a:lnSpc>
                <a:spcPct val="118000"/>
              </a:lnSpc>
            </a:pPr>
            <a:r>
              <a:rPr sz="1200" dirty="0">
                <a:solidFill>
                  <a:srgbClr val="DCE6EE"/>
                </a:solidFill>
                <a:latin typeface="Consolas"/>
              </a:rPr>
              <a:t>           K = 6,                    # how many themes: your choice</a:t>
            </a:r>
          </a:p>
          <a:p>
            <a:pPr>
              <a:lnSpc>
                <a:spcPct val="118000"/>
              </a:lnSpc>
            </a:pPr>
            <a:r>
              <a:rPr sz="1200" dirty="0">
                <a:solidFill>
                  <a:srgbClr val="DCE6EE"/>
                </a:solidFill>
                <a:latin typeface="Consolas"/>
              </a:rPr>
              <a:t>           prevalence = ~ s(Year))   # allows change over time</a:t>
            </a:r>
          </a:p>
          <a:p>
            <a:pPr>
              <a:lnSpc>
                <a:spcPct val="118000"/>
              </a:lnSpc>
            </a:pPr>
            <a:r>
              <a:rPr sz="1200" dirty="0">
                <a:solidFill>
                  <a:srgbClr val="DCE6EE"/>
                </a:solidFill>
                <a:latin typeface="Consolas"/>
              </a:rPr>
              <a:t> </a:t>
            </a:r>
          </a:p>
          <a:p>
            <a:pPr>
              <a:lnSpc>
                <a:spcPct val="118000"/>
              </a:lnSpc>
            </a:pPr>
            <a:r>
              <a:rPr sz="1200" dirty="0">
                <a:solidFill>
                  <a:srgbClr val="7FB8C4"/>
                </a:solidFill>
                <a:latin typeface="Consolas"/>
              </a:rPr>
              <a:t># 3. shares -&gt; chart</a:t>
            </a:r>
          </a:p>
          <a:p>
            <a:pPr>
              <a:lnSpc>
                <a:spcPct val="118000"/>
              </a:lnSpc>
            </a:pPr>
            <a:r>
              <a:rPr sz="1200" dirty="0" err="1">
                <a:solidFill>
                  <a:srgbClr val="DCE6EE"/>
                </a:solidFill>
                <a:latin typeface="Consolas"/>
              </a:rPr>
              <a:t>as.data.frame</a:t>
            </a:r>
            <a:r>
              <a:rPr sz="1200" dirty="0">
                <a:solidFill>
                  <a:srgbClr val="DCE6EE"/>
                </a:solidFill>
                <a:latin typeface="Consolas"/>
              </a:rPr>
              <a:t>(</a:t>
            </a:r>
            <a:r>
              <a:rPr sz="1200" dirty="0" err="1">
                <a:solidFill>
                  <a:srgbClr val="DCE6EE"/>
                </a:solidFill>
                <a:latin typeface="Consolas"/>
              </a:rPr>
              <a:t>fit$theta</a:t>
            </a:r>
            <a:r>
              <a:rPr sz="1200" dirty="0">
                <a:solidFill>
                  <a:srgbClr val="DCE6EE"/>
                </a:solidFill>
                <a:latin typeface="Consolas"/>
              </a:rPr>
              <a:t>) %&gt;%</a:t>
            </a:r>
          </a:p>
          <a:p>
            <a:pPr>
              <a:lnSpc>
                <a:spcPct val="118000"/>
              </a:lnSpc>
            </a:pPr>
            <a:r>
              <a:rPr sz="1200" dirty="0">
                <a:solidFill>
                  <a:srgbClr val="DCE6EE"/>
                </a:solidFill>
                <a:latin typeface="Consolas"/>
              </a:rPr>
              <a:t>  mutate(Year = </a:t>
            </a:r>
            <a:r>
              <a:rPr sz="1200" dirty="0" err="1">
                <a:solidFill>
                  <a:srgbClr val="DCE6EE"/>
                </a:solidFill>
                <a:latin typeface="Consolas"/>
              </a:rPr>
              <a:t>meta$Year</a:t>
            </a:r>
            <a:r>
              <a:rPr sz="1200" dirty="0">
                <a:solidFill>
                  <a:srgbClr val="DCE6EE"/>
                </a:solidFill>
                <a:latin typeface="Consolas"/>
              </a:rPr>
              <a:t>) %&gt;%</a:t>
            </a:r>
          </a:p>
          <a:p>
            <a:pPr>
              <a:lnSpc>
                <a:spcPct val="118000"/>
              </a:lnSpc>
            </a:pPr>
            <a:r>
              <a:rPr sz="1200" dirty="0">
                <a:solidFill>
                  <a:srgbClr val="DCE6EE"/>
                </a:solidFill>
                <a:latin typeface="Consolas"/>
              </a:rPr>
              <a:t>  </a:t>
            </a:r>
            <a:r>
              <a:rPr sz="1200" dirty="0" err="1">
                <a:solidFill>
                  <a:srgbClr val="DCE6EE"/>
                </a:solidFill>
                <a:latin typeface="Consolas"/>
              </a:rPr>
              <a:t>pivot_longer</a:t>
            </a:r>
            <a:r>
              <a:rPr sz="1200" dirty="0">
                <a:solidFill>
                  <a:srgbClr val="DCE6EE"/>
                </a:solidFill>
                <a:latin typeface="Consolas"/>
              </a:rPr>
              <a:t>(</a:t>
            </a:r>
            <a:r>
              <a:rPr sz="1200" dirty="0" err="1">
                <a:solidFill>
                  <a:srgbClr val="DCE6EE"/>
                </a:solidFill>
                <a:latin typeface="Consolas"/>
              </a:rPr>
              <a:t>starts_with</a:t>
            </a:r>
            <a:r>
              <a:rPr sz="1200" dirty="0">
                <a:solidFill>
                  <a:srgbClr val="DCE6EE"/>
                </a:solidFill>
                <a:latin typeface="Consolas"/>
              </a:rPr>
              <a:t>("T")) %&gt;%</a:t>
            </a:r>
          </a:p>
          <a:p>
            <a:pPr>
              <a:lnSpc>
                <a:spcPct val="118000"/>
              </a:lnSpc>
            </a:pPr>
            <a:r>
              <a:rPr sz="1200" dirty="0">
                <a:solidFill>
                  <a:srgbClr val="DCE6EE"/>
                </a:solidFill>
                <a:latin typeface="Consolas"/>
              </a:rPr>
              <a:t>  </a:t>
            </a:r>
            <a:r>
              <a:rPr sz="1200" dirty="0" err="1">
                <a:solidFill>
                  <a:srgbClr val="DCE6EE"/>
                </a:solidFill>
                <a:latin typeface="Consolas"/>
              </a:rPr>
              <a:t>group_by</a:t>
            </a:r>
            <a:r>
              <a:rPr sz="1200" dirty="0">
                <a:solidFill>
                  <a:srgbClr val="DCE6EE"/>
                </a:solidFill>
                <a:latin typeface="Consolas"/>
              </a:rPr>
              <a:t>(Year, name) %&gt;%</a:t>
            </a:r>
          </a:p>
          <a:p>
            <a:pPr>
              <a:lnSpc>
                <a:spcPct val="118000"/>
              </a:lnSpc>
            </a:pPr>
            <a:r>
              <a:rPr sz="1200" dirty="0">
                <a:solidFill>
                  <a:srgbClr val="DCE6EE"/>
                </a:solidFill>
                <a:latin typeface="Consolas"/>
              </a:rPr>
              <a:t>  </a:t>
            </a:r>
            <a:r>
              <a:rPr sz="1200" dirty="0" err="1">
                <a:solidFill>
                  <a:srgbClr val="DCE6EE"/>
                </a:solidFill>
                <a:latin typeface="Consolas"/>
              </a:rPr>
              <a:t>summarise</a:t>
            </a:r>
            <a:r>
              <a:rPr sz="1200" dirty="0">
                <a:solidFill>
                  <a:srgbClr val="DCE6EE"/>
                </a:solidFill>
                <a:latin typeface="Consolas"/>
              </a:rPr>
              <a:t>(share = mean(value)) %&gt;%   # average within each year</a:t>
            </a:r>
          </a:p>
          <a:p>
            <a:pPr>
              <a:lnSpc>
                <a:spcPct val="118000"/>
              </a:lnSpc>
            </a:pPr>
            <a:r>
              <a:rPr sz="1200" dirty="0">
                <a:solidFill>
                  <a:srgbClr val="DCE6EE"/>
                </a:solidFill>
                <a:latin typeface="Consolas"/>
              </a:rPr>
              <a:t>  </a:t>
            </a:r>
            <a:r>
              <a:rPr sz="1200" dirty="0" err="1">
                <a:solidFill>
                  <a:srgbClr val="DCE6EE"/>
                </a:solidFill>
                <a:latin typeface="Consolas"/>
              </a:rPr>
              <a:t>ggplot</a:t>
            </a:r>
            <a:r>
              <a:rPr sz="1200" dirty="0">
                <a:solidFill>
                  <a:srgbClr val="DCE6EE"/>
                </a:solidFill>
                <a:latin typeface="Consolas"/>
              </a:rPr>
              <a:t>(</a:t>
            </a:r>
            <a:r>
              <a:rPr sz="1200" dirty="0" err="1">
                <a:solidFill>
                  <a:srgbClr val="DCE6EE"/>
                </a:solidFill>
                <a:latin typeface="Consolas"/>
              </a:rPr>
              <a:t>aes</a:t>
            </a:r>
            <a:r>
              <a:rPr sz="1200" dirty="0">
                <a:solidFill>
                  <a:srgbClr val="DCE6EE"/>
                </a:solidFill>
                <a:latin typeface="Consolas"/>
              </a:rPr>
              <a:t>(Year, share, </a:t>
            </a:r>
            <a:r>
              <a:rPr sz="1200" dirty="0" err="1">
                <a:solidFill>
                  <a:srgbClr val="DCE6EE"/>
                </a:solidFill>
                <a:latin typeface="Consolas"/>
              </a:rPr>
              <a:t>colour</a:t>
            </a:r>
            <a:r>
              <a:rPr sz="1200" dirty="0">
                <a:solidFill>
                  <a:srgbClr val="DCE6EE"/>
                </a:solidFill>
                <a:latin typeface="Consolas"/>
              </a:rPr>
              <a:t> = name)) + </a:t>
            </a:r>
            <a:r>
              <a:rPr sz="1200" dirty="0" err="1">
                <a:solidFill>
                  <a:srgbClr val="DCE6EE"/>
                </a:solidFill>
                <a:latin typeface="Consolas"/>
              </a:rPr>
              <a:t>geom_line</a:t>
            </a:r>
            <a:r>
              <a:rPr sz="1200" dirty="0">
                <a:solidFill>
                  <a:srgbClr val="DCE6EE"/>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200"/>
            <a:ext cx="82296" cy="9144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Without a model: what you actually get</a:t>
            </a:r>
          </a:p>
        </p:txBody>
      </p:sp>
      <p:sp>
        <p:nvSpPr>
          <p:cNvPr id="4" name="TextBox 3"/>
          <p:cNvSpPr txBox="1"/>
          <p:nvPr/>
        </p:nvSpPr>
        <p:spPr>
          <a:xfrm>
            <a:off x="804672" y="974683"/>
            <a:ext cx="10783519" cy="400110"/>
          </a:xfrm>
          <a:prstGeom prst="rect">
            <a:avLst/>
          </a:prstGeom>
          <a:noFill/>
        </p:spPr>
        <p:txBody>
          <a:bodyPr wrap="square" anchor="t">
            <a:spAutoFit/>
          </a:bodyPr>
          <a:lstStyle/>
          <a:p>
            <a:pPr algn="l"/>
            <a:r>
              <a:rPr sz="2000" b="0" i="0" dirty="0">
                <a:solidFill>
                  <a:srgbClr val="667685"/>
                </a:solidFill>
                <a:latin typeface="Calibri"/>
              </a:rPr>
              <a:t>The topic model hands you numbered groups of word stems. Nothing more.</a:t>
            </a:r>
          </a:p>
        </p:txBody>
      </p:sp>
      <p:sp>
        <p:nvSpPr>
          <p:cNvPr id="5" name="Rounded Rectangle 4"/>
          <p:cNvSpPr/>
          <p:nvPr/>
        </p:nvSpPr>
        <p:spPr>
          <a:xfrm>
            <a:off x="566928" y="1600199"/>
            <a:ext cx="11057839" cy="2627221"/>
          </a:xfrm>
          <a:prstGeom prst="roundRect">
            <a:avLst>
              <a:gd name="adj" fmla="val 6000"/>
            </a:avLst>
          </a:prstGeom>
          <a:solidFill>
            <a:srgbClr val="1222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TextBox 5"/>
          <p:cNvSpPr txBox="1"/>
          <p:nvPr/>
        </p:nvSpPr>
        <p:spPr>
          <a:xfrm>
            <a:off x="786383" y="1965604"/>
            <a:ext cx="10518343" cy="1815690"/>
          </a:xfrm>
          <a:prstGeom prst="rect">
            <a:avLst/>
          </a:prstGeom>
          <a:noFill/>
        </p:spPr>
        <p:txBody>
          <a:bodyPr wrap="square">
            <a:spAutoFit/>
          </a:bodyPr>
          <a:lstStyle/>
          <a:p>
            <a:pPr>
              <a:lnSpc>
                <a:spcPct val="118000"/>
              </a:lnSpc>
            </a:pPr>
            <a:r>
              <a:rPr sz="1600" dirty="0" err="1">
                <a:solidFill>
                  <a:srgbClr val="7FB8C4"/>
                </a:solidFill>
                <a:latin typeface="Consolas"/>
              </a:rPr>
              <a:t>labelTopics</a:t>
            </a:r>
            <a:r>
              <a:rPr sz="1600" dirty="0">
                <a:solidFill>
                  <a:srgbClr val="7FB8C4"/>
                </a:solidFill>
                <a:latin typeface="Consolas"/>
              </a:rPr>
              <a:t>(fit)</a:t>
            </a:r>
          </a:p>
          <a:p>
            <a:pPr>
              <a:lnSpc>
                <a:spcPct val="118000"/>
              </a:lnSpc>
            </a:pPr>
            <a:r>
              <a:rPr sz="1600" dirty="0">
                <a:solidFill>
                  <a:srgbClr val="DCE6EE"/>
                </a:solidFill>
                <a:latin typeface="Consolas"/>
              </a:rPr>
              <a:t> </a:t>
            </a:r>
          </a:p>
          <a:p>
            <a:pPr>
              <a:lnSpc>
                <a:spcPct val="118000"/>
              </a:lnSpc>
            </a:pPr>
            <a:r>
              <a:rPr sz="1600" dirty="0">
                <a:solidFill>
                  <a:srgbClr val="DCE6EE"/>
                </a:solidFill>
                <a:latin typeface="Consolas"/>
              </a:rPr>
              <a:t>Topic 1   </a:t>
            </a:r>
            <a:r>
              <a:rPr sz="1600" dirty="0" err="1">
                <a:solidFill>
                  <a:srgbClr val="DCE6EE"/>
                </a:solidFill>
                <a:latin typeface="Consolas"/>
              </a:rPr>
              <a:t>biafran</a:t>
            </a:r>
            <a:r>
              <a:rPr sz="1600" dirty="0">
                <a:solidFill>
                  <a:srgbClr val="DCE6EE"/>
                </a:solidFill>
                <a:latin typeface="Consolas"/>
              </a:rPr>
              <a:t>, relief, </a:t>
            </a:r>
            <a:r>
              <a:rPr sz="1600" dirty="0" err="1">
                <a:solidFill>
                  <a:srgbClr val="DCE6EE"/>
                </a:solidFill>
                <a:latin typeface="Consolas"/>
              </a:rPr>
              <a:t>starv</a:t>
            </a:r>
            <a:r>
              <a:rPr sz="1600" dirty="0">
                <a:solidFill>
                  <a:srgbClr val="DCE6EE"/>
                </a:solidFill>
                <a:latin typeface="Consolas"/>
              </a:rPr>
              <a:t>, children, airlift</a:t>
            </a:r>
          </a:p>
          <a:p>
            <a:pPr>
              <a:lnSpc>
                <a:spcPct val="118000"/>
              </a:lnSpc>
            </a:pPr>
            <a:r>
              <a:rPr sz="1600" dirty="0">
                <a:solidFill>
                  <a:srgbClr val="DCE6EE"/>
                </a:solidFill>
                <a:latin typeface="Consolas"/>
              </a:rPr>
              <a:t>Topic 2   </a:t>
            </a:r>
            <a:r>
              <a:rPr sz="1600" dirty="0" err="1">
                <a:solidFill>
                  <a:srgbClr val="DCE6EE"/>
                </a:solidFill>
                <a:latin typeface="Consolas"/>
              </a:rPr>
              <a:t>feder</a:t>
            </a:r>
            <a:r>
              <a:rPr sz="1600" dirty="0">
                <a:solidFill>
                  <a:srgbClr val="DCE6EE"/>
                </a:solidFill>
                <a:latin typeface="Consolas"/>
              </a:rPr>
              <a:t>, troop, division, </a:t>
            </a:r>
            <a:r>
              <a:rPr sz="1600" dirty="0" err="1">
                <a:solidFill>
                  <a:srgbClr val="DCE6EE"/>
                </a:solidFill>
                <a:latin typeface="Consolas"/>
              </a:rPr>
              <a:t>offens</a:t>
            </a:r>
            <a:r>
              <a:rPr sz="1600" dirty="0">
                <a:solidFill>
                  <a:srgbClr val="DCE6EE"/>
                </a:solidFill>
                <a:latin typeface="Consolas"/>
              </a:rPr>
              <a:t>, </a:t>
            </a:r>
            <a:r>
              <a:rPr sz="1600" dirty="0" err="1">
                <a:solidFill>
                  <a:srgbClr val="DCE6EE"/>
                </a:solidFill>
                <a:latin typeface="Consolas"/>
              </a:rPr>
              <a:t>advanc</a:t>
            </a:r>
            <a:endParaRPr sz="1600" dirty="0">
              <a:solidFill>
                <a:srgbClr val="DCE6EE"/>
              </a:solidFill>
              <a:latin typeface="Consolas"/>
            </a:endParaRPr>
          </a:p>
          <a:p>
            <a:pPr>
              <a:lnSpc>
                <a:spcPct val="118000"/>
              </a:lnSpc>
            </a:pPr>
            <a:r>
              <a:rPr sz="1600" dirty="0">
                <a:solidFill>
                  <a:srgbClr val="DCE6EE"/>
                </a:solidFill>
                <a:latin typeface="Consolas"/>
              </a:rPr>
              <a:t>Topic 3   </a:t>
            </a:r>
            <a:r>
              <a:rPr sz="1600" dirty="0" err="1">
                <a:solidFill>
                  <a:srgbClr val="DCE6EE"/>
                </a:solidFill>
                <a:latin typeface="Consolas"/>
              </a:rPr>
              <a:t>britain</a:t>
            </a:r>
            <a:r>
              <a:rPr sz="1600" dirty="0">
                <a:solidFill>
                  <a:srgbClr val="DCE6EE"/>
                </a:solidFill>
                <a:latin typeface="Consolas"/>
              </a:rPr>
              <a:t>, franc, soviet, arms, </a:t>
            </a:r>
            <a:r>
              <a:rPr sz="1600" dirty="0" err="1">
                <a:solidFill>
                  <a:srgbClr val="DCE6EE"/>
                </a:solidFill>
                <a:latin typeface="Consolas"/>
              </a:rPr>
              <a:t>recognit</a:t>
            </a:r>
            <a:endParaRPr sz="1600" dirty="0">
              <a:solidFill>
                <a:srgbClr val="DCE6EE"/>
              </a:solidFill>
              <a:latin typeface="Consolas"/>
            </a:endParaRPr>
          </a:p>
          <a:p>
            <a:pPr>
              <a:lnSpc>
                <a:spcPct val="118000"/>
              </a:lnSpc>
            </a:pPr>
            <a:r>
              <a:rPr sz="1600" dirty="0">
                <a:solidFill>
                  <a:srgbClr val="DCE6EE"/>
                </a:solidFill>
                <a:latin typeface="Consolas"/>
              </a:rPr>
              <a:t>Topic 4   </a:t>
            </a:r>
            <a:r>
              <a:rPr sz="1600" dirty="0" err="1">
                <a:solidFill>
                  <a:srgbClr val="DCE6EE"/>
                </a:solidFill>
                <a:latin typeface="Consolas"/>
              </a:rPr>
              <a:t>igbo</a:t>
            </a:r>
            <a:r>
              <a:rPr sz="1600" dirty="0">
                <a:solidFill>
                  <a:srgbClr val="DCE6EE"/>
                </a:solidFill>
                <a:latin typeface="Consolas"/>
              </a:rPr>
              <a:t>, </a:t>
            </a:r>
            <a:r>
              <a:rPr sz="1600" dirty="0" err="1">
                <a:solidFill>
                  <a:srgbClr val="DCE6EE"/>
                </a:solidFill>
                <a:latin typeface="Consolas"/>
              </a:rPr>
              <a:t>massacr</a:t>
            </a:r>
            <a:r>
              <a:rPr sz="1600" dirty="0">
                <a:solidFill>
                  <a:srgbClr val="DCE6EE"/>
                </a:solidFill>
                <a:latin typeface="Consolas"/>
              </a:rPr>
              <a:t>, pogrom, refuge, east</a:t>
            </a:r>
          </a:p>
        </p:txBody>
      </p:sp>
      <p:sp>
        <p:nvSpPr>
          <p:cNvPr id="7" name="Rounded Rectangle 6"/>
          <p:cNvSpPr/>
          <p:nvPr/>
        </p:nvSpPr>
        <p:spPr>
          <a:xfrm>
            <a:off x="566928" y="4489025"/>
            <a:ext cx="11057839" cy="213190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8" name="TextBox 7"/>
          <p:cNvSpPr txBox="1"/>
          <p:nvPr/>
        </p:nvSpPr>
        <p:spPr>
          <a:xfrm>
            <a:off x="886968" y="4568313"/>
            <a:ext cx="10417759" cy="461665"/>
          </a:xfrm>
          <a:prstGeom prst="rect">
            <a:avLst/>
          </a:prstGeom>
          <a:noFill/>
        </p:spPr>
        <p:txBody>
          <a:bodyPr wrap="square" anchor="t">
            <a:spAutoFit/>
          </a:bodyPr>
          <a:lstStyle/>
          <a:p>
            <a:pPr algn="l"/>
            <a:r>
              <a:rPr sz="2400" b="1" i="0" dirty="0">
                <a:solidFill>
                  <a:srgbClr val="16324F"/>
                </a:solidFill>
                <a:latin typeface="Calibri"/>
              </a:rPr>
              <a:t>You then read those lists and name each one yourself.</a:t>
            </a:r>
          </a:p>
        </p:txBody>
      </p:sp>
      <p:sp>
        <p:nvSpPr>
          <p:cNvPr id="9" name="TextBox 8"/>
          <p:cNvSpPr txBox="1"/>
          <p:nvPr/>
        </p:nvSpPr>
        <p:spPr>
          <a:xfrm>
            <a:off x="886968" y="5115282"/>
            <a:ext cx="10417759" cy="707886"/>
          </a:xfrm>
          <a:prstGeom prst="rect">
            <a:avLst/>
          </a:prstGeom>
          <a:noFill/>
        </p:spPr>
        <p:txBody>
          <a:bodyPr wrap="square" anchor="t">
            <a:spAutoFit/>
          </a:bodyPr>
          <a:lstStyle/>
          <a:p>
            <a:pPr algn="l"/>
            <a:r>
              <a:rPr sz="2000" b="0" i="0" dirty="0">
                <a:solidFill>
                  <a:srgbClr val="1F2933"/>
                </a:solidFill>
                <a:latin typeface="Calibri"/>
              </a:rPr>
              <a:t>That is ordinary, legitimate practice. It is how this has always been done, and you are better placed to do it than a model is, because you know the subject.</a:t>
            </a:r>
          </a:p>
        </p:txBody>
      </p:sp>
      <p:sp>
        <p:nvSpPr>
          <p:cNvPr id="10" name="TextBox 9"/>
          <p:cNvSpPr txBox="1"/>
          <p:nvPr/>
        </p:nvSpPr>
        <p:spPr>
          <a:xfrm>
            <a:off x="886968" y="5827743"/>
            <a:ext cx="10417759" cy="707886"/>
          </a:xfrm>
          <a:prstGeom prst="rect">
            <a:avLst/>
          </a:prstGeom>
          <a:noFill/>
        </p:spPr>
        <p:txBody>
          <a:bodyPr wrap="square" anchor="t">
            <a:spAutoFit/>
          </a:bodyPr>
          <a:lstStyle/>
          <a:p>
            <a:pPr algn="l"/>
            <a:r>
              <a:rPr sz="2000" b="1" i="0" dirty="0">
                <a:solidFill>
                  <a:srgbClr val="C05746"/>
                </a:solidFill>
                <a:latin typeface="Calibri"/>
              </a:rPr>
              <a:t>The cost:  </a:t>
            </a:r>
            <a:r>
              <a:rPr sz="2000" b="0" i="0" dirty="0">
                <a:solidFill>
                  <a:srgbClr val="1F2933"/>
                </a:solidFill>
                <a:latin typeface="Calibri"/>
              </a:rPr>
              <a:t>slow, fiddly with twenty themes, and until you do it the chart legend reads Topic 1, Topic 2, Topic 3, which nobody can follow.</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846667"/>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With a model: it writes the names</a:t>
            </a:r>
          </a:p>
        </p:txBody>
      </p:sp>
      <p:sp>
        <p:nvSpPr>
          <p:cNvPr id="4" name="TextBox 3"/>
          <p:cNvSpPr txBox="1"/>
          <p:nvPr/>
        </p:nvSpPr>
        <p:spPr>
          <a:xfrm>
            <a:off x="804672" y="974681"/>
            <a:ext cx="10783519" cy="400110"/>
          </a:xfrm>
          <a:prstGeom prst="rect">
            <a:avLst/>
          </a:prstGeom>
          <a:noFill/>
        </p:spPr>
        <p:txBody>
          <a:bodyPr wrap="square" anchor="t">
            <a:spAutoFit/>
          </a:bodyPr>
          <a:lstStyle/>
          <a:p>
            <a:pPr algn="l"/>
            <a:r>
              <a:rPr sz="2000" b="0" i="0" dirty="0">
                <a:solidFill>
                  <a:srgbClr val="667685"/>
                </a:solidFill>
                <a:latin typeface="Calibri"/>
              </a:rPr>
              <a:t>Same numbers, same chart. The model reads each word list and proposes a label.</a:t>
            </a:r>
          </a:p>
        </p:txBody>
      </p:sp>
      <p:sp>
        <p:nvSpPr>
          <p:cNvPr id="5" name="Rounded Rectangle 4"/>
          <p:cNvSpPr/>
          <p:nvPr/>
        </p:nvSpPr>
        <p:spPr>
          <a:xfrm>
            <a:off x="533061" y="1938865"/>
            <a:ext cx="5529912" cy="65836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6" name="TextBox 5"/>
          <p:cNvSpPr txBox="1"/>
          <p:nvPr/>
        </p:nvSpPr>
        <p:spPr>
          <a:xfrm>
            <a:off x="761660" y="1914105"/>
            <a:ext cx="5010273" cy="707886"/>
          </a:xfrm>
          <a:prstGeom prst="rect">
            <a:avLst/>
          </a:prstGeom>
          <a:noFill/>
        </p:spPr>
        <p:txBody>
          <a:bodyPr wrap="square" anchor="ctr">
            <a:spAutoFit/>
          </a:bodyPr>
          <a:lstStyle/>
          <a:p>
            <a:pPr algn="l"/>
            <a:r>
              <a:rPr sz="2000" b="0" i="0">
                <a:solidFill>
                  <a:srgbClr val="1F2933"/>
                </a:solidFill>
                <a:latin typeface="Consolas"/>
              </a:rPr>
              <a:t>biafran, relief, starv, children, airlift</a:t>
            </a:r>
          </a:p>
        </p:txBody>
      </p:sp>
      <p:sp>
        <p:nvSpPr>
          <p:cNvPr id="7" name="TextBox 6"/>
          <p:cNvSpPr txBox="1"/>
          <p:nvPr/>
        </p:nvSpPr>
        <p:spPr>
          <a:xfrm>
            <a:off x="6081261" y="2067995"/>
            <a:ext cx="457200" cy="400110"/>
          </a:xfrm>
          <a:prstGeom prst="rect">
            <a:avLst/>
          </a:prstGeom>
          <a:noFill/>
        </p:spPr>
        <p:txBody>
          <a:bodyPr wrap="square" anchor="ctr">
            <a:spAutoFit/>
          </a:bodyPr>
          <a:lstStyle/>
          <a:p>
            <a:pPr algn="ctr"/>
            <a:r>
              <a:rPr sz="2000" b="1" i="0">
                <a:solidFill>
                  <a:srgbClr val="0E7C86"/>
                </a:solidFill>
                <a:latin typeface="Calibri"/>
              </a:rPr>
              <a:t>→</a:t>
            </a:r>
          </a:p>
        </p:txBody>
      </p:sp>
      <p:sp>
        <p:nvSpPr>
          <p:cNvPr id="8" name="Rounded Rectangle 7"/>
          <p:cNvSpPr/>
          <p:nvPr/>
        </p:nvSpPr>
        <p:spPr>
          <a:xfrm>
            <a:off x="6556749" y="1938865"/>
            <a:ext cx="4865449" cy="658368"/>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9" name="TextBox 8"/>
          <p:cNvSpPr txBox="1"/>
          <p:nvPr/>
        </p:nvSpPr>
        <p:spPr>
          <a:xfrm>
            <a:off x="6785349" y="2067994"/>
            <a:ext cx="4408249" cy="400110"/>
          </a:xfrm>
          <a:prstGeom prst="rect">
            <a:avLst/>
          </a:prstGeom>
          <a:noFill/>
        </p:spPr>
        <p:txBody>
          <a:bodyPr wrap="square" anchor="ctr">
            <a:spAutoFit/>
          </a:bodyPr>
          <a:lstStyle/>
          <a:p>
            <a:pPr algn="l"/>
            <a:r>
              <a:rPr sz="2000" b="1" i="0">
                <a:solidFill>
                  <a:srgbClr val="0E7C86"/>
                </a:solidFill>
                <a:latin typeface="Calibri"/>
              </a:rPr>
              <a:t>Humanitarian relief</a:t>
            </a:r>
          </a:p>
        </p:txBody>
      </p:sp>
      <p:sp>
        <p:nvSpPr>
          <p:cNvPr id="10" name="Rounded Rectangle 9"/>
          <p:cNvSpPr/>
          <p:nvPr/>
        </p:nvSpPr>
        <p:spPr>
          <a:xfrm>
            <a:off x="533061" y="2792981"/>
            <a:ext cx="5529912" cy="65836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1" name="TextBox 10"/>
          <p:cNvSpPr txBox="1"/>
          <p:nvPr/>
        </p:nvSpPr>
        <p:spPr>
          <a:xfrm>
            <a:off x="761660" y="2768222"/>
            <a:ext cx="5010273" cy="707886"/>
          </a:xfrm>
          <a:prstGeom prst="rect">
            <a:avLst/>
          </a:prstGeom>
          <a:noFill/>
        </p:spPr>
        <p:txBody>
          <a:bodyPr wrap="square" anchor="ctr">
            <a:spAutoFit/>
          </a:bodyPr>
          <a:lstStyle/>
          <a:p>
            <a:pPr algn="l"/>
            <a:r>
              <a:rPr sz="2000" b="0" i="0" dirty="0" err="1">
                <a:solidFill>
                  <a:srgbClr val="1F2933"/>
                </a:solidFill>
                <a:latin typeface="Consolas"/>
              </a:rPr>
              <a:t>feder</a:t>
            </a:r>
            <a:r>
              <a:rPr sz="2000" b="0" i="0" dirty="0">
                <a:solidFill>
                  <a:srgbClr val="1F2933"/>
                </a:solidFill>
                <a:latin typeface="Consolas"/>
              </a:rPr>
              <a:t>, troop, division, </a:t>
            </a:r>
            <a:r>
              <a:rPr sz="2000" b="0" i="0" dirty="0" err="1">
                <a:solidFill>
                  <a:srgbClr val="1F2933"/>
                </a:solidFill>
                <a:latin typeface="Consolas"/>
              </a:rPr>
              <a:t>offens</a:t>
            </a:r>
            <a:r>
              <a:rPr sz="2000" b="0" i="0" dirty="0">
                <a:solidFill>
                  <a:srgbClr val="1F2933"/>
                </a:solidFill>
                <a:latin typeface="Consolas"/>
              </a:rPr>
              <a:t>, </a:t>
            </a:r>
            <a:r>
              <a:rPr sz="2000" b="0" i="0" dirty="0" err="1">
                <a:solidFill>
                  <a:srgbClr val="1F2933"/>
                </a:solidFill>
                <a:latin typeface="Consolas"/>
              </a:rPr>
              <a:t>advanc</a:t>
            </a:r>
            <a:endParaRPr sz="2000" b="0" i="0" dirty="0">
              <a:solidFill>
                <a:srgbClr val="1F2933"/>
              </a:solidFill>
              <a:latin typeface="Consolas"/>
            </a:endParaRPr>
          </a:p>
        </p:txBody>
      </p:sp>
      <p:sp>
        <p:nvSpPr>
          <p:cNvPr id="12" name="TextBox 11"/>
          <p:cNvSpPr txBox="1"/>
          <p:nvPr/>
        </p:nvSpPr>
        <p:spPr>
          <a:xfrm>
            <a:off x="6081261" y="2922111"/>
            <a:ext cx="457200" cy="400110"/>
          </a:xfrm>
          <a:prstGeom prst="rect">
            <a:avLst/>
          </a:prstGeom>
          <a:noFill/>
        </p:spPr>
        <p:txBody>
          <a:bodyPr wrap="square" anchor="ctr">
            <a:spAutoFit/>
          </a:bodyPr>
          <a:lstStyle/>
          <a:p>
            <a:pPr algn="ctr"/>
            <a:r>
              <a:rPr sz="2000" b="1" i="0">
                <a:solidFill>
                  <a:srgbClr val="0E7C86"/>
                </a:solidFill>
                <a:latin typeface="Calibri"/>
              </a:rPr>
              <a:t>→</a:t>
            </a:r>
          </a:p>
        </p:txBody>
      </p:sp>
      <p:sp>
        <p:nvSpPr>
          <p:cNvPr id="13" name="Rounded Rectangle 12"/>
          <p:cNvSpPr/>
          <p:nvPr/>
        </p:nvSpPr>
        <p:spPr>
          <a:xfrm>
            <a:off x="6556749" y="2792981"/>
            <a:ext cx="4865449" cy="658368"/>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4" name="TextBox 13"/>
          <p:cNvSpPr txBox="1"/>
          <p:nvPr/>
        </p:nvSpPr>
        <p:spPr>
          <a:xfrm>
            <a:off x="6785349" y="2922110"/>
            <a:ext cx="4408249" cy="400110"/>
          </a:xfrm>
          <a:prstGeom prst="rect">
            <a:avLst/>
          </a:prstGeom>
          <a:noFill/>
        </p:spPr>
        <p:txBody>
          <a:bodyPr wrap="square" anchor="ctr">
            <a:spAutoFit/>
          </a:bodyPr>
          <a:lstStyle/>
          <a:p>
            <a:pPr algn="l"/>
            <a:r>
              <a:rPr sz="2000" b="1" i="0" dirty="0">
                <a:solidFill>
                  <a:srgbClr val="0E7C86"/>
                </a:solidFill>
                <a:latin typeface="Calibri"/>
              </a:rPr>
              <a:t>Military campaign</a:t>
            </a:r>
          </a:p>
        </p:txBody>
      </p:sp>
      <p:sp>
        <p:nvSpPr>
          <p:cNvPr id="15" name="Rounded Rectangle 14"/>
          <p:cNvSpPr/>
          <p:nvPr/>
        </p:nvSpPr>
        <p:spPr>
          <a:xfrm>
            <a:off x="533061" y="3647097"/>
            <a:ext cx="5529912" cy="658368"/>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TextBox 15"/>
          <p:cNvSpPr txBox="1"/>
          <p:nvPr/>
        </p:nvSpPr>
        <p:spPr>
          <a:xfrm>
            <a:off x="761660" y="3622338"/>
            <a:ext cx="5010273" cy="707886"/>
          </a:xfrm>
          <a:prstGeom prst="rect">
            <a:avLst/>
          </a:prstGeom>
          <a:noFill/>
        </p:spPr>
        <p:txBody>
          <a:bodyPr wrap="square" anchor="ctr">
            <a:spAutoFit/>
          </a:bodyPr>
          <a:lstStyle/>
          <a:p>
            <a:pPr algn="l"/>
            <a:r>
              <a:rPr sz="2000" b="0" i="0">
                <a:solidFill>
                  <a:srgbClr val="1F2933"/>
                </a:solidFill>
                <a:latin typeface="Consolas"/>
              </a:rPr>
              <a:t>britain, franc, soviet, arms, recognit</a:t>
            </a:r>
          </a:p>
        </p:txBody>
      </p:sp>
      <p:sp>
        <p:nvSpPr>
          <p:cNvPr id="17" name="TextBox 16"/>
          <p:cNvSpPr txBox="1"/>
          <p:nvPr/>
        </p:nvSpPr>
        <p:spPr>
          <a:xfrm>
            <a:off x="6081261" y="3776227"/>
            <a:ext cx="457200" cy="400110"/>
          </a:xfrm>
          <a:prstGeom prst="rect">
            <a:avLst/>
          </a:prstGeom>
          <a:noFill/>
        </p:spPr>
        <p:txBody>
          <a:bodyPr wrap="square" anchor="ctr">
            <a:spAutoFit/>
          </a:bodyPr>
          <a:lstStyle/>
          <a:p>
            <a:pPr algn="ctr"/>
            <a:r>
              <a:rPr sz="2000" b="1" i="0">
                <a:solidFill>
                  <a:srgbClr val="0E7C86"/>
                </a:solidFill>
                <a:latin typeface="Calibri"/>
              </a:rPr>
              <a:t>→</a:t>
            </a:r>
          </a:p>
        </p:txBody>
      </p:sp>
      <p:sp>
        <p:nvSpPr>
          <p:cNvPr id="18" name="Rounded Rectangle 17"/>
          <p:cNvSpPr/>
          <p:nvPr/>
        </p:nvSpPr>
        <p:spPr>
          <a:xfrm>
            <a:off x="6556749" y="3647097"/>
            <a:ext cx="4865449" cy="658368"/>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9" name="TextBox 18"/>
          <p:cNvSpPr txBox="1"/>
          <p:nvPr/>
        </p:nvSpPr>
        <p:spPr>
          <a:xfrm>
            <a:off x="6785349" y="3776226"/>
            <a:ext cx="4408249" cy="400110"/>
          </a:xfrm>
          <a:prstGeom prst="rect">
            <a:avLst/>
          </a:prstGeom>
          <a:noFill/>
        </p:spPr>
        <p:txBody>
          <a:bodyPr wrap="square" anchor="ctr">
            <a:spAutoFit/>
          </a:bodyPr>
          <a:lstStyle/>
          <a:p>
            <a:pPr algn="l"/>
            <a:r>
              <a:rPr sz="2000" b="1" i="0">
                <a:solidFill>
                  <a:srgbClr val="0E7C86"/>
                </a:solidFill>
                <a:latin typeface="Calibri"/>
              </a:rPr>
              <a:t>International involvement</a:t>
            </a:r>
          </a:p>
        </p:txBody>
      </p:sp>
      <p:sp>
        <p:nvSpPr>
          <p:cNvPr id="20" name="Rounded Rectangle 19"/>
          <p:cNvSpPr/>
          <p:nvPr/>
        </p:nvSpPr>
        <p:spPr>
          <a:xfrm>
            <a:off x="566928" y="4698074"/>
            <a:ext cx="11057839" cy="1730155"/>
          </a:xfrm>
          <a:prstGeom prst="roundRect">
            <a:avLst>
              <a:gd name="adj" fmla="val 6000"/>
            </a:avLst>
          </a:prstGeom>
          <a:solidFill>
            <a:srgbClr val="FDF6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1" name="Rectangle 20"/>
          <p:cNvSpPr/>
          <p:nvPr/>
        </p:nvSpPr>
        <p:spPr>
          <a:xfrm>
            <a:off x="566928" y="4698074"/>
            <a:ext cx="50292" cy="1730155"/>
          </a:xfrm>
          <a:prstGeom prst="rect">
            <a:avLst/>
          </a:prstGeom>
          <a:solidFill>
            <a:srgbClr val="C5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22" name="TextBox 21"/>
          <p:cNvSpPr txBox="1"/>
          <p:nvPr/>
        </p:nvSpPr>
        <p:spPr>
          <a:xfrm>
            <a:off x="912114" y="4847876"/>
            <a:ext cx="10417759" cy="461665"/>
          </a:xfrm>
          <a:prstGeom prst="rect">
            <a:avLst/>
          </a:prstGeom>
          <a:noFill/>
        </p:spPr>
        <p:txBody>
          <a:bodyPr wrap="square" anchor="t">
            <a:spAutoFit/>
          </a:bodyPr>
          <a:lstStyle/>
          <a:p>
            <a:pPr algn="l"/>
            <a:r>
              <a:rPr lang="en-US" sz="2400" b="1" dirty="0">
                <a:solidFill>
                  <a:srgbClr val="8A5F14"/>
                </a:solidFill>
                <a:latin typeface="Calibri"/>
              </a:rPr>
              <a:t>W</a:t>
            </a:r>
            <a:r>
              <a:rPr sz="2400" b="1" i="0" dirty="0">
                <a:solidFill>
                  <a:srgbClr val="8A5F14"/>
                </a:solidFill>
                <a:latin typeface="Calibri"/>
              </a:rPr>
              <a:t>hat this is</a:t>
            </a:r>
            <a:r>
              <a:rPr lang="en-US" sz="2400" b="1" i="0" dirty="0">
                <a:solidFill>
                  <a:srgbClr val="8A5F14"/>
                </a:solidFill>
                <a:latin typeface="Calibri"/>
              </a:rPr>
              <a:t>:</a:t>
            </a:r>
            <a:endParaRPr sz="2400" b="1" i="0" dirty="0">
              <a:solidFill>
                <a:srgbClr val="8A5F14"/>
              </a:solidFill>
              <a:latin typeface="Calibri"/>
            </a:endParaRPr>
          </a:p>
        </p:txBody>
      </p:sp>
      <p:sp>
        <p:nvSpPr>
          <p:cNvPr id="23" name="TextBox 22"/>
          <p:cNvSpPr txBox="1"/>
          <p:nvPr/>
        </p:nvSpPr>
        <p:spPr>
          <a:xfrm>
            <a:off x="886968" y="5255716"/>
            <a:ext cx="10442905" cy="707886"/>
          </a:xfrm>
          <a:prstGeom prst="rect">
            <a:avLst/>
          </a:prstGeom>
          <a:noFill/>
        </p:spPr>
        <p:txBody>
          <a:bodyPr wrap="square" anchor="t">
            <a:spAutoFit/>
          </a:bodyPr>
          <a:lstStyle/>
          <a:p>
            <a:pPr algn="just"/>
            <a:r>
              <a:rPr sz="2000" b="0" i="0" dirty="0">
                <a:solidFill>
                  <a:srgbClr val="1F2933"/>
                </a:solidFill>
                <a:latin typeface="Calibri"/>
              </a:rPr>
              <a:t>The model does not find the themes. The topic model did that. It reads the word lists and suggests names: a first draft of the labelling, and you correct anything that does not fit.</a:t>
            </a:r>
          </a:p>
        </p:txBody>
      </p:sp>
      <p:sp>
        <p:nvSpPr>
          <p:cNvPr id="24" name="TextBox 23"/>
          <p:cNvSpPr txBox="1"/>
          <p:nvPr/>
        </p:nvSpPr>
        <p:spPr>
          <a:xfrm>
            <a:off x="886968" y="5952741"/>
            <a:ext cx="10737799" cy="400110"/>
          </a:xfrm>
          <a:prstGeom prst="rect">
            <a:avLst/>
          </a:prstGeom>
          <a:noFill/>
        </p:spPr>
        <p:txBody>
          <a:bodyPr wrap="square" anchor="t">
            <a:spAutoFit/>
          </a:bodyPr>
          <a:lstStyle/>
          <a:p>
            <a:pPr algn="l"/>
            <a:r>
              <a:rPr sz="2000" b="0" i="1" dirty="0">
                <a:solidFill>
                  <a:srgbClr val="667685"/>
                </a:solidFill>
                <a:latin typeface="Calibri"/>
              </a:rPr>
              <a:t>Ask for one label at a time. Small local models return nothing if you ask for all of them at once.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985325"/>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So what did the model actually add?</a:t>
            </a:r>
          </a:p>
        </p:txBody>
      </p:sp>
      <p:sp>
        <p:nvSpPr>
          <p:cNvPr id="4" name="TextBox 3"/>
          <p:cNvSpPr txBox="1"/>
          <p:nvPr/>
        </p:nvSpPr>
        <p:spPr>
          <a:xfrm>
            <a:off x="804672" y="974683"/>
            <a:ext cx="10783519" cy="400110"/>
          </a:xfrm>
          <a:prstGeom prst="rect">
            <a:avLst/>
          </a:prstGeom>
          <a:noFill/>
        </p:spPr>
        <p:txBody>
          <a:bodyPr wrap="square" anchor="t">
            <a:spAutoFit/>
          </a:bodyPr>
          <a:lstStyle/>
          <a:p>
            <a:pPr algn="l"/>
            <a:r>
              <a:rPr sz="2000" b="0" i="0" dirty="0">
                <a:solidFill>
                  <a:srgbClr val="667685"/>
                </a:solidFill>
                <a:latin typeface="Calibri"/>
              </a:rPr>
              <a:t>Worth answering directly. The two halves are not equal.</a:t>
            </a:r>
          </a:p>
        </p:txBody>
      </p:sp>
      <p:sp>
        <p:nvSpPr>
          <p:cNvPr id="5" name="Rounded Rectangle 4"/>
          <p:cNvSpPr/>
          <p:nvPr/>
        </p:nvSpPr>
        <p:spPr>
          <a:xfrm>
            <a:off x="566928" y="1810996"/>
            <a:ext cx="5346039" cy="3265888"/>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6" name="Rectangle 5"/>
          <p:cNvSpPr/>
          <p:nvPr/>
        </p:nvSpPr>
        <p:spPr>
          <a:xfrm>
            <a:off x="566928" y="2379133"/>
            <a:ext cx="50292" cy="2377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7" name="TextBox 6"/>
          <p:cNvSpPr txBox="1"/>
          <p:nvPr/>
        </p:nvSpPr>
        <p:spPr>
          <a:xfrm>
            <a:off x="804672" y="1959410"/>
            <a:ext cx="4705959" cy="461665"/>
          </a:xfrm>
          <a:prstGeom prst="rect">
            <a:avLst/>
          </a:prstGeom>
          <a:noFill/>
        </p:spPr>
        <p:txBody>
          <a:bodyPr wrap="square" anchor="t">
            <a:spAutoFit/>
          </a:bodyPr>
          <a:lstStyle/>
          <a:p>
            <a:pPr algn="l"/>
            <a:r>
              <a:rPr sz="2400" b="0" i="0" dirty="0">
                <a:solidFill>
                  <a:srgbClr val="667685"/>
                </a:solidFill>
                <a:latin typeface="Calibri"/>
              </a:rPr>
              <a:t>In the knowledge graph</a:t>
            </a:r>
          </a:p>
        </p:txBody>
      </p:sp>
      <p:sp>
        <p:nvSpPr>
          <p:cNvPr id="8" name="TextBox 7"/>
          <p:cNvSpPr txBox="1"/>
          <p:nvPr/>
        </p:nvSpPr>
        <p:spPr>
          <a:xfrm>
            <a:off x="926855" y="2421074"/>
            <a:ext cx="4705959" cy="553998"/>
          </a:xfrm>
          <a:prstGeom prst="rect">
            <a:avLst/>
          </a:prstGeom>
          <a:noFill/>
        </p:spPr>
        <p:txBody>
          <a:bodyPr wrap="square" anchor="t">
            <a:spAutoFit/>
          </a:bodyPr>
          <a:lstStyle/>
          <a:p>
            <a:pPr algn="l"/>
            <a:r>
              <a:rPr sz="3000" b="1" i="0" dirty="0">
                <a:solidFill>
                  <a:srgbClr val="0E7C86"/>
                </a:solidFill>
                <a:latin typeface="Georgia"/>
              </a:rPr>
              <a:t>A great deal</a:t>
            </a:r>
          </a:p>
        </p:txBody>
      </p:sp>
      <p:sp>
        <p:nvSpPr>
          <p:cNvPr id="9" name="TextBox 8"/>
          <p:cNvSpPr txBox="1"/>
          <p:nvPr/>
        </p:nvSpPr>
        <p:spPr>
          <a:xfrm>
            <a:off x="804671" y="3161632"/>
            <a:ext cx="4705959" cy="1508105"/>
          </a:xfrm>
          <a:prstGeom prst="rect">
            <a:avLst/>
          </a:prstGeom>
          <a:noFill/>
        </p:spPr>
        <p:txBody>
          <a:bodyPr wrap="square" anchor="t">
            <a:spAutoFit/>
          </a:bodyPr>
          <a:lstStyle/>
          <a:p>
            <a:pPr algn="just"/>
            <a:r>
              <a:rPr sz="2300" b="0" i="0" dirty="0">
                <a:solidFill>
                  <a:srgbClr val="1F2933"/>
                </a:solidFill>
                <a:latin typeface="Calibri"/>
              </a:rPr>
              <a:t>Counting cannot name a relationship or give it direction. The model produced information that was not obtainable by counting at all.</a:t>
            </a:r>
          </a:p>
        </p:txBody>
      </p:sp>
      <p:sp>
        <p:nvSpPr>
          <p:cNvPr id="10" name="Rounded Rectangle 9"/>
          <p:cNvSpPr/>
          <p:nvPr/>
        </p:nvSpPr>
        <p:spPr>
          <a:xfrm>
            <a:off x="6278727" y="1810996"/>
            <a:ext cx="5346039" cy="3265888"/>
          </a:xfrm>
          <a:prstGeom prst="roundRect">
            <a:avLst>
              <a:gd name="adj" fmla="val 6000"/>
            </a:avLst>
          </a:prstGeom>
          <a:solidFill>
            <a:srgbClr val="FB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1" name="Rectangle 10"/>
          <p:cNvSpPr/>
          <p:nvPr/>
        </p:nvSpPr>
        <p:spPr>
          <a:xfrm>
            <a:off x="6278727" y="2379133"/>
            <a:ext cx="50292" cy="2377440"/>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2" name="TextBox 11"/>
          <p:cNvSpPr txBox="1"/>
          <p:nvPr/>
        </p:nvSpPr>
        <p:spPr>
          <a:xfrm>
            <a:off x="6598766" y="1959409"/>
            <a:ext cx="4705959" cy="461665"/>
          </a:xfrm>
          <a:prstGeom prst="rect">
            <a:avLst/>
          </a:prstGeom>
          <a:noFill/>
        </p:spPr>
        <p:txBody>
          <a:bodyPr wrap="square" anchor="t">
            <a:spAutoFit/>
          </a:bodyPr>
          <a:lstStyle/>
          <a:p>
            <a:pPr algn="l"/>
            <a:r>
              <a:rPr sz="2400" b="0" i="0" dirty="0">
                <a:solidFill>
                  <a:srgbClr val="667685"/>
                </a:solidFill>
                <a:latin typeface="Calibri"/>
              </a:rPr>
              <a:t>In the themes chart</a:t>
            </a:r>
          </a:p>
        </p:txBody>
      </p:sp>
      <p:sp>
        <p:nvSpPr>
          <p:cNvPr id="13" name="TextBox 12"/>
          <p:cNvSpPr txBox="1"/>
          <p:nvPr/>
        </p:nvSpPr>
        <p:spPr>
          <a:xfrm>
            <a:off x="6623913" y="2418027"/>
            <a:ext cx="4705959" cy="553998"/>
          </a:xfrm>
          <a:prstGeom prst="rect">
            <a:avLst/>
          </a:prstGeom>
          <a:noFill/>
        </p:spPr>
        <p:txBody>
          <a:bodyPr wrap="square" anchor="t">
            <a:spAutoFit/>
          </a:bodyPr>
          <a:lstStyle/>
          <a:p>
            <a:pPr algn="l"/>
            <a:r>
              <a:rPr sz="3000" b="1" i="0" dirty="0">
                <a:solidFill>
                  <a:srgbClr val="C05746"/>
                </a:solidFill>
                <a:latin typeface="Georgia"/>
              </a:rPr>
              <a:t>A convenience</a:t>
            </a:r>
          </a:p>
        </p:txBody>
      </p:sp>
      <p:sp>
        <p:nvSpPr>
          <p:cNvPr id="14" name="TextBox 13"/>
          <p:cNvSpPr txBox="1"/>
          <p:nvPr/>
        </p:nvSpPr>
        <p:spPr>
          <a:xfrm>
            <a:off x="6681370" y="3161632"/>
            <a:ext cx="4705959" cy="1508105"/>
          </a:xfrm>
          <a:prstGeom prst="rect">
            <a:avLst/>
          </a:prstGeom>
          <a:noFill/>
        </p:spPr>
        <p:txBody>
          <a:bodyPr wrap="square" anchor="t">
            <a:spAutoFit/>
          </a:bodyPr>
          <a:lstStyle/>
          <a:p>
            <a:pPr algn="just"/>
            <a:r>
              <a:rPr sz="2300" b="0" i="0" dirty="0">
                <a:solidFill>
                  <a:srgbClr val="1F2933"/>
                </a:solidFill>
                <a:latin typeface="Calibri"/>
              </a:rPr>
              <a:t>The topic model found the themes; the language model named them. Useful, but you could write those six labels yourself in ten minutes.</a:t>
            </a:r>
          </a:p>
        </p:txBody>
      </p:sp>
      <p:sp>
        <p:nvSpPr>
          <p:cNvPr id="15" name="Rounded Rectangle 14"/>
          <p:cNvSpPr/>
          <p:nvPr/>
        </p:nvSpPr>
        <p:spPr>
          <a:xfrm>
            <a:off x="566928" y="5483011"/>
            <a:ext cx="11057839" cy="1005840"/>
          </a:xfrm>
          <a:prstGeom prst="roundRect">
            <a:avLst>
              <a:gd name="adj" fmla="val 6000"/>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6" name="TextBox 15"/>
          <p:cNvSpPr txBox="1"/>
          <p:nvPr/>
        </p:nvSpPr>
        <p:spPr>
          <a:xfrm>
            <a:off x="768095" y="5638794"/>
            <a:ext cx="10655503" cy="646331"/>
          </a:xfrm>
          <a:prstGeom prst="rect">
            <a:avLst/>
          </a:prstGeom>
          <a:noFill/>
        </p:spPr>
        <p:txBody>
          <a:bodyPr wrap="square" anchor="ctr">
            <a:spAutoFit/>
          </a:bodyPr>
          <a:lstStyle/>
          <a:p>
            <a:pPr algn="just"/>
            <a:r>
              <a:rPr b="1" i="0" dirty="0">
                <a:solidFill>
                  <a:srgbClr val="FFFFFF"/>
                </a:solidFill>
                <a:latin typeface="Calibri"/>
              </a:rPr>
              <a:t>Saying this plainly beats overselling.  </a:t>
            </a:r>
            <a:r>
              <a:rPr b="0" i="0" dirty="0">
                <a:solidFill>
                  <a:srgbClr val="C9DCE7"/>
                </a:solidFill>
                <a:latin typeface="Calibri"/>
              </a:rPr>
              <a:t>A tool described honestly, helping a lot with one job and a little with another, is more useful than one described as magic.</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199"/>
            <a:ext cx="82296" cy="829733"/>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 name="TextBox 2"/>
          <p:cNvSpPr txBox="1"/>
          <p:nvPr/>
        </p:nvSpPr>
        <p:spPr>
          <a:xfrm>
            <a:off x="804672" y="390066"/>
            <a:ext cx="10783519" cy="646331"/>
          </a:xfrm>
          <a:prstGeom prst="rect">
            <a:avLst/>
          </a:prstGeom>
          <a:noFill/>
        </p:spPr>
        <p:txBody>
          <a:bodyPr wrap="square" anchor="ctr">
            <a:spAutoFit/>
          </a:bodyPr>
          <a:lstStyle/>
          <a:p>
            <a:pPr algn="l"/>
            <a:r>
              <a:rPr sz="3600" b="1" i="0" dirty="0">
                <a:solidFill>
                  <a:srgbClr val="16324F"/>
                </a:solidFill>
                <a:latin typeface="Georgia"/>
              </a:rPr>
              <a:t>What the chart actually showed</a:t>
            </a:r>
          </a:p>
        </p:txBody>
      </p:sp>
      <p:sp>
        <p:nvSpPr>
          <p:cNvPr id="4" name="TextBox 3"/>
          <p:cNvSpPr txBox="1"/>
          <p:nvPr/>
        </p:nvSpPr>
        <p:spPr>
          <a:xfrm>
            <a:off x="804672" y="991616"/>
            <a:ext cx="10783519" cy="400110"/>
          </a:xfrm>
          <a:prstGeom prst="rect">
            <a:avLst/>
          </a:prstGeom>
          <a:noFill/>
        </p:spPr>
        <p:txBody>
          <a:bodyPr wrap="square" anchor="t">
            <a:spAutoFit/>
          </a:bodyPr>
          <a:lstStyle/>
          <a:p>
            <a:pPr algn="l"/>
            <a:r>
              <a:rPr sz="2000" b="0" i="0" dirty="0">
                <a:solidFill>
                  <a:srgbClr val="667685"/>
                </a:solidFill>
                <a:latin typeface="Calibri"/>
              </a:rPr>
              <a:t>A finding worth pausing on, and a caution about reading it.</a:t>
            </a:r>
          </a:p>
        </p:txBody>
      </p:sp>
      <p:sp>
        <p:nvSpPr>
          <p:cNvPr id="5" name="Rounded Rectangle 4"/>
          <p:cNvSpPr/>
          <p:nvPr/>
        </p:nvSpPr>
        <p:spPr>
          <a:xfrm>
            <a:off x="566928" y="1634067"/>
            <a:ext cx="11057839" cy="1569792"/>
          </a:xfrm>
          <a:prstGeom prst="roundRect">
            <a:avLst>
              <a:gd name="adj" fmla="val 6000"/>
            </a:avLst>
          </a:prstGeom>
          <a:solidFill>
            <a:srgbClr val="E6F2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6" name="Rectangle 5"/>
          <p:cNvSpPr/>
          <p:nvPr/>
        </p:nvSpPr>
        <p:spPr>
          <a:xfrm>
            <a:off x="566928" y="1634067"/>
            <a:ext cx="50292" cy="156979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19236" y="1732282"/>
            <a:ext cx="10417759" cy="461665"/>
          </a:xfrm>
          <a:prstGeom prst="rect">
            <a:avLst/>
          </a:prstGeom>
          <a:noFill/>
        </p:spPr>
        <p:txBody>
          <a:bodyPr wrap="square" anchor="t">
            <a:spAutoFit/>
          </a:bodyPr>
          <a:lstStyle/>
          <a:p>
            <a:pPr algn="l"/>
            <a:r>
              <a:rPr sz="2400" b="1" i="0" dirty="0">
                <a:solidFill>
                  <a:srgbClr val="0E7C86"/>
                </a:solidFill>
                <a:latin typeface="Georgia"/>
              </a:rPr>
              <a:t>The article changed what it was about</a:t>
            </a:r>
          </a:p>
        </p:txBody>
      </p:sp>
      <p:sp>
        <p:nvSpPr>
          <p:cNvPr id="8" name="TextBox 7"/>
          <p:cNvSpPr txBox="1"/>
          <p:nvPr/>
        </p:nvSpPr>
        <p:spPr>
          <a:xfrm>
            <a:off x="819236" y="2200995"/>
            <a:ext cx="10701223" cy="1015663"/>
          </a:xfrm>
          <a:prstGeom prst="rect">
            <a:avLst/>
          </a:prstGeom>
          <a:noFill/>
        </p:spPr>
        <p:txBody>
          <a:bodyPr wrap="square" anchor="t">
            <a:spAutoFit/>
          </a:bodyPr>
          <a:lstStyle/>
          <a:p>
            <a:pPr algn="just"/>
            <a:r>
              <a:rPr sz="2000" b="0" i="0" dirty="0">
                <a:solidFill>
                  <a:srgbClr val="1F2933"/>
                </a:solidFill>
                <a:latin typeface="Calibri"/>
              </a:rPr>
              <a:t>Narrative of the war itself falls from about 40 per cent in 2006 to about 21 per cent by 2025. International involvement rises from under 5 per cent to about 30 per cent, most of it in a single jump around 2015.</a:t>
            </a:r>
          </a:p>
        </p:txBody>
      </p:sp>
      <p:sp>
        <p:nvSpPr>
          <p:cNvPr id="9" name="Rounded Rectangle 8"/>
          <p:cNvSpPr/>
          <p:nvPr/>
        </p:nvSpPr>
        <p:spPr>
          <a:xfrm>
            <a:off x="566928" y="3318934"/>
            <a:ext cx="11057839" cy="1371600"/>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Rectangle 9"/>
          <p:cNvSpPr/>
          <p:nvPr/>
        </p:nvSpPr>
        <p:spPr>
          <a:xfrm>
            <a:off x="566928" y="3318934"/>
            <a:ext cx="50292" cy="1371600"/>
          </a:xfrm>
          <a:prstGeom prst="rect">
            <a:avLst/>
          </a:prstGeom>
          <a:solidFill>
            <a:srgbClr val="2C4A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886968" y="3451015"/>
            <a:ext cx="10417759" cy="461665"/>
          </a:xfrm>
          <a:prstGeom prst="rect">
            <a:avLst/>
          </a:prstGeom>
          <a:noFill/>
        </p:spPr>
        <p:txBody>
          <a:bodyPr wrap="square" anchor="t">
            <a:spAutoFit/>
          </a:bodyPr>
          <a:lstStyle/>
          <a:p>
            <a:pPr algn="l"/>
            <a:r>
              <a:rPr sz="2400" b="1" i="0" dirty="0">
                <a:solidFill>
                  <a:srgbClr val="2C4A63"/>
                </a:solidFill>
                <a:latin typeface="Georgia"/>
              </a:rPr>
              <a:t>What it might mean</a:t>
            </a:r>
          </a:p>
        </p:txBody>
      </p:sp>
      <p:sp>
        <p:nvSpPr>
          <p:cNvPr id="12" name="TextBox 11"/>
          <p:cNvSpPr txBox="1"/>
          <p:nvPr/>
        </p:nvSpPr>
        <p:spPr>
          <a:xfrm>
            <a:off x="886968" y="3867573"/>
            <a:ext cx="10633491" cy="707886"/>
          </a:xfrm>
          <a:prstGeom prst="rect">
            <a:avLst/>
          </a:prstGeom>
          <a:noFill/>
        </p:spPr>
        <p:txBody>
          <a:bodyPr wrap="square" anchor="t">
            <a:spAutoFit/>
          </a:bodyPr>
          <a:lstStyle/>
          <a:p>
            <a:pPr algn="just"/>
            <a:r>
              <a:rPr sz="2000" b="0" i="0" dirty="0">
                <a:solidFill>
                  <a:srgbClr val="1F2933"/>
                </a:solidFill>
                <a:latin typeface="Calibri"/>
              </a:rPr>
              <a:t>An </a:t>
            </a:r>
            <a:r>
              <a:rPr sz="2000" b="0" i="0" dirty="0" err="1">
                <a:solidFill>
                  <a:srgbClr val="1F2933"/>
                </a:solidFill>
                <a:latin typeface="Calibri"/>
              </a:rPr>
              <a:t>encyclopaedia</a:t>
            </a:r>
            <a:r>
              <a:rPr sz="2000" b="0" i="0" dirty="0">
                <a:solidFill>
                  <a:srgbClr val="1F2933"/>
                </a:solidFill>
                <a:latin typeface="Calibri"/>
              </a:rPr>
              <a:t> article is not a fixed record. What a subject is taken to be about shifts as editors, sources and attention shift.</a:t>
            </a:r>
          </a:p>
        </p:txBody>
      </p:sp>
      <p:sp>
        <p:nvSpPr>
          <p:cNvPr id="13" name="Rounded Rectangle 12"/>
          <p:cNvSpPr/>
          <p:nvPr/>
        </p:nvSpPr>
        <p:spPr>
          <a:xfrm>
            <a:off x="566928" y="4770122"/>
            <a:ext cx="11057839" cy="1630676"/>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4" name="Rectangle 13"/>
          <p:cNvSpPr/>
          <p:nvPr/>
        </p:nvSpPr>
        <p:spPr>
          <a:xfrm>
            <a:off x="566928" y="4770121"/>
            <a:ext cx="50292" cy="1630675"/>
          </a:xfrm>
          <a:prstGeom prst="rect">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TextBox 14"/>
          <p:cNvSpPr txBox="1"/>
          <p:nvPr/>
        </p:nvSpPr>
        <p:spPr>
          <a:xfrm>
            <a:off x="886968" y="4953002"/>
            <a:ext cx="10417759" cy="461665"/>
          </a:xfrm>
          <a:prstGeom prst="rect">
            <a:avLst/>
          </a:prstGeom>
          <a:noFill/>
        </p:spPr>
        <p:txBody>
          <a:bodyPr wrap="square" anchor="t">
            <a:spAutoFit/>
          </a:bodyPr>
          <a:lstStyle/>
          <a:p>
            <a:pPr algn="l"/>
            <a:r>
              <a:rPr sz="2400" b="1" i="0" dirty="0">
                <a:solidFill>
                  <a:srgbClr val="C05746"/>
                </a:solidFill>
                <a:latin typeface="Georgia"/>
              </a:rPr>
              <a:t>What it does not prove</a:t>
            </a:r>
          </a:p>
        </p:txBody>
      </p:sp>
      <p:sp>
        <p:nvSpPr>
          <p:cNvPr id="16" name="TextBox 15"/>
          <p:cNvSpPr txBox="1"/>
          <p:nvPr/>
        </p:nvSpPr>
        <p:spPr>
          <a:xfrm>
            <a:off x="878247" y="5446363"/>
            <a:ext cx="10583199" cy="707886"/>
          </a:xfrm>
          <a:prstGeom prst="rect">
            <a:avLst/>
          </a:prstGeom>
          <a:noFill/>
        </p:spPr>
        <p:txBody>
          <a:bodyPr wrap="square" anchor="t">
            <a:spAutoFit/>
          </a:bodyPr>
          <a:lstStyle/>
          <a:p>
            <a:pPr algn="just"/>
            <a:r>
              <a:rPr sz="2000" b="0" i="0" dirty="0">
                <a:solidFill>
                  <a:srgbClr val="1F2933"/>
                </a:solidFill>
                <a:latin typeface="Calibri"/>
              </a:rPr>
              <a:t>A sharp jump in one year is often a restructure: a section added, a merge, a rewrite. Read the revision history before calling it a change in framing.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6928" y="457200"/>
            <a:ext cx="82296" cy="56692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04672" y="420844"/>
            <a:ext cx="10783519" cy="584775"/>
          </a:xfrm>
          <a:prstGeom prst="rect">
            <a:avLst/>
          </a:prstGeom>
          <a:noFill/>
        </p:spPr>
        <p:txBody>
          <a:bodyPr wrap="square" anchor="ctr">
            <a:spAutoFit/>
          </a:bodyPr>
          <a:lstStyle/>
          <a:p>
            <a:pPr algn="l"/>
            <a:r>
              <a:rPr sz="3200" b="1" i="0" dirty="0">
                <a:solidFill>
                  <a:srgbClr val="16324F"/>
                </a:solidFill>
                <a:latin typeface="Georgia"/>
              </a:rPr>
              <a:t>Four things to take away</a:t>
            </a:r>
          </a:p>
        </p:txBody>
      </p:sp>
      <p:sp>
        <p:nvSpPr>
          <p:cNvPr id="4" name="Rounded Rectangle 3"/>
          <p:cNvSpPr/>
          <p:nvPr/>
        </p:nvSpPr>
        <p:spPr>
          <a:xfrm>
            <a:off x="566928" y="1416982"/>
            <a:ext cx="11057839" cy="115688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Oval 4"/>
          <p:cNvSpPr/>
          <p:nvPr/>
        </p:nvSpPr>
        <p:spPr>
          <a:xfrm>
            <a:off x="841247" y="1682159"/>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1714050"/>
            <a:ext cx="402336" cy="338554"/>
          </a:xfrm>
          <a:prstGeom prst="rect">
            <a:avLst/>
          </a:prstGeom>
          <a:noFill/>
        </p:spPr>
        <p:txBody>
          <a:bodyPr wrap="square" anchor="ctr">
            <a:spAutoFit/>
          </a:bodyPr>
          <a:lstStyle/>
          <a:p>
            <a:pPr algn="ctr"/>
            <a:r>
              <a:rPr sz="1600" b="1" i="0">
                <a:solidFill>
                  <a:srgbClr val="FFFFFF"/>
                </a:solidFill>
                <a:latin typeface="Georgia"/>
              </a:rPr>
              <a:t>1</a:t>
            </a:r>
          </a:p>
        </p:txBody>
      </p:sp>
      <p:sp>
        <p:nvSpPr>
          <p:cNvPr id="7" name="TextBox 6"/>
          <p:cNvSpPr txBox="1"/>
          <p:nvPr/>
        </p:nvSpPr>
        <p:spPr>
          <a:xfrm>
            <a:off x="1435607" y="1563286"/>
            <a:ext cx="9869119" cy="461665"/>
          </a:xfrm>
          <a:prstGeom prst="rect">
            <a:avLst/>
          </a:prstGeom>
          <a:noFill/>
        </p:spPr>
        <p:txBody>
          <a:bodyPr wrap="square" anchor="t">
            <a:spAutoFit/>
          </a:bodyPr>
          <a:lstStyle/>
          <a:p>
            <a:pPr algn="l"/>
            <a:r>
              <a:rPr sz="2400" b="1" i="0" dirty="0">
                <a:solidFill>
                  <a:srgbClr val="16324F"/>
                </a:solidFill>
                <a:latin typeface="Georgia"/>
              </a:rPr>
              <a:t>Match the data to the question</a:t>
            </a:r>
          </a:p>
        </p:txBody>
      </p:sp>
      <p:sp>
        <p:nvSpPr>
          <p:cNvPr id="8" name="TextBox 7"/>
          <p:cNvSpPr txBox="1"/>
          <p:nvPr/>
        </p:nvSpPr>
        <p:spPr>
          <a:xfrm>
            <a:off x="1435607" y="2038670"/>
            <a:ext cx="9869119" cy="369332"/>
          </a:xfrm>
          <a:prstGeom prst="rect">
            <a:avLst/>
          </a:prstGeom>
          <a:noFill/>
        </p:spPr>
        <p:txBody>
          <a:bodyPr wrap="square" anchor="t">
            <a:spAutoFit/>
          </a:bodyPr>
          <a:lstStyle/>
          <a:p>
            <a:pPr algn="l"/>
            <a:r>
              <a:rPr b="0" i="0" dirty="0">
                <a:solidFill>
                  <a:srgbClr val="667685"/>
                </a:solidFill>
                <a:latin typeface="Calibri"/>
              </a:rPr>
              <a:t>A themes-over-time chart needs dates. Check your data can answer the question before you build.</a:t>
            </a:r>
          </a:p>
        </p:txBody>
      </p:sp>
      <p:sp>
        <p:nvSpPr>
          <p:cNvPr id="9" name="Rounded Rectangle 8"/>
          <p:cNvSpPr/>
          <p:nvPr/>
        </p:nvSpPr>
        <p:spPr>
          <a:xfrm>
            <a:off x="566928" y="2665302"/>
            <a:ext cx="11057839" cy="1025385"/>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0" name="Oval 9"/>
          <p:cNvSpPr/>
          <p:nvPr/>
        </p:nvSpPr>
        <p:spPr>
          <a:xfrm>
            <a:off x="841247" y="2930479"/>
            <a:ext cx="402336" cy="402336"/>
          </a:xfrm>
          <a:prstGeom prst="ellipse">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7" y="2962370"/>
            <a:ext cx="402336" cy="338554"/>
          </a:xfrm>
          <a:prstGeom prst="rect">
            <a:avLst/>
          </a:prstGeom>
          <a:noFill/>
        </p:spPr>
        <p:txBody>
          <a:bodyPr wrap="square" anchor="ctr">
            <a:spAutoFit/>
          </a:bodyPr>
          <a:lstStyle/>
          <a:p>
            <a:pPr algn="ctr"/>
            <a:r>
              <a:rPr sz="1600" b="1" i="0">
                <a:solidFill>
                  <a:srgbClr val="FFFFFF"/>
                </a:solidFill>
                <a:latin typeface="Georgia"/>
              </a:rPr>
              <a:t>2</a:t>
            </a:r>
          </a:p>
        </p:txBody>
      </p:sp>
      <p:sp>
        <p:nvSpPr>
          <p:cNvPr id="12" name="TextBox 11"/>
          <p:cNvSpPr txBox="1"/>
          <p:nvPr/>
        </p:nvSpPr>
        <p:spPr>
          <a:xfrm>
            <a:off x="1435607" y="2760809"/>
            <a:ext cx="9869119" cy="461665"/>
          </a:xfrm>
          <a:prstGeom prst="rect">
            <a:avLst/>
          </a:prstGeom>
          <a:noFill/>
        </p:spPr>
        <p:txBody>
          <a:bodyPr wrap="square" anchor="t">
            <a:spAutoFit/>
          </a:bodyPr>
          <a:lstStyle/>
          <a:p>
            <a:pPr algn="l"/>
            <a:r>
              <a:rPr sz="2400" b="1" i="0" dirty="0">
                <a:solidFill>
                  <a:srgbClr val="16324F"/>
                </a:solidFill>
                <a:latin typeface="Georgia"/>
              </a:rPr>
              <a:t>A schema turns a conversation into data</a:t>
            </a:r>
          </a:p>
        </p:txBody>
      </p:sp>
      <p:sp>
        <p:nvSpPr>
          <p:cNvPr id="13" name="TextBox 12"/>
          <p:cNvSpPr txBox="1"/>
          <p:nvPr/>
        </p:nvSpPr>
        <p:spPr>
          <a:xfrm>
            <a:off x="1435607" y="3260678"/>
            <a:ext cx="9869119" cy="369332"/>
          </a:xfrm>
          <a:prstGeom prst="rect">
            <a:avLst/>
          </a:prstGeom>
          <a:noFill/>
        </p:spPr>
        <p:txBody>
          <a:bodyPr wrap="square" anchor="t">
            <a:spAutoFit/>
          </a:bodyPr>
          <a:lstStyle/>
          <a:p>
            <a:pPr algn="l"/>
            <a:r>
              <a:rPr b="0" i="0" dirty="0">
                <a:solidFill>
                  <a:srgbClr val="667685"/>
                </a:solidFill>
                <a:latin typeface="Calibri"/>
              </a:rPr>
              <a:t>Describe the shape you want, and the answer arrives as a table you can plot.</a:t>
            </a:r>
          </a:p>
        </p:txBody>
      </p:sp>
      <p:sp>
        <p:nvSpPr>
          <p:cNvPr id="14" name="Rounded Rectangle 13"/>
          <p:cNvSpPr/>
          <p:nvPr/>
        </p:nvSpPr>
        <p:spPr>
          <a:xfrm>
            <a:off x="566928" y="3812029"/>
            <a:ext cx="11057839" cy="109360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5" name="Oval 14"/>
          <p:cNvSpPr/>
          <p:nvPr/>
        </p:nvSpPr>
        <p:spPr>
          <a:xfrm>
            <a:off x="841247" y="4077205"/>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1247" y="4109096"/>
            <a:ext cx="402336" cy="338554"/>
          </a:xfrm>
          <a:prstGeom prst="rect">
            <a:avLst/>
          </a:prstGeom>
          <a:noFill/>
        </p:spPr>
        <p:txBody>
          <a:bodyPr wrap="square" anchor="ctr">
            <a:spAutoFit/>
          </a:bodyPr>
          <a:lstStyle/>
          <a:p>
            <a:pPr algn="ctr"/>
            <a:r>
              <a:rPr sz="1600" b="1" i="0">
                <a:solidFill>
                  <a:srgbClr val="FFFFFF"/>
                </a:solidFill>
                <a:latin typeface="Georgia"/>
              </a:rPr>
              <a:t>3</a:t>
            </a:r>
          </a:p>
        </p:txBody>
      </p:sp>
      <p:sp>
        <p:nvSpPr>
          <p:cNvPr id="17" name="TextBox 16"/>
          <p:cNvSpPr txBox="1"/>
          <p:nvPr/>
        </p:nvSpPr>
        <p:spPr>
          <a:xfrm>
            <a:off x="1435607" y="3907535"/>
            <a:ext cx="9869119" cy="461665"/>
          </a:xfrm>
          <a:prstGeom prst="rect">
            <a:avLst/>
          </a:prstGeom>
          <a:noFill/>
        </p:spPr>
        <p:txBody>
          <a:bodyPr wrap="square" anchor="t">
            <a:spAutoFit/>
          </a:bodyPr>
          <a:lstStyle/>
          <a:p>
            <a:pPr algn="l"/>
            <a:r>
              <a:rPr sz="2400" b="1" i="0" dirty="0">
                <a:solidFill>
                  <a:srgbClr val="16324F"/>
                </a:solidFill>
                <a:latin typeface="Georgia"/>
              </a:rPr>
              <a:t>The prompt is part of the method</a:t>
            </a:r>
          </a:p>
        </p:txBody>
      </p:sp>
      <p:sp>
        <p:nvSpPr>
          <p:cNvPr id="18" name="TextBox 17"/>
          <p:cNvSpPr txBox="1"/>
          <p:nvPr/>
        </p:nvSpPr>
        <p:spPr>
          <a:xfrm>
            <a:off x="1435607" y="4429796"/>
            <a:ext cx="9869119" cy="369332"/>
          </a:xfrm>
          <a:prstGeom prst="rect">
            <a:avLst/>
          </a:prstGeom>
          <a:noFill/>
        </p:spPr>
        <p:txBody>
          <a:bodyPr wrap="square" anchor="t">
            <a:spAutoFit/>
          </a:bodyPr>
          <a:lstStyle/>
          <a:p>
            <a:pPr algn="l"/>
            <a:r>
              <a:rPr b="0" i="0" dirty="0">
                <a:solidFill>
                  <a:srgbClr val="667685"/>
                </a:solidFill>
                <a:latin typeface="Calibri"/>
              </a:rPr>
              <a:t>Different texts hold different relationships. Write the instruction for the text you have.</a:t>
            </a:r>
          </a:p>
        </p:txBody>
      </p:sp>
      <p:sp>
        <p:nvSpPr>
          <p:cNvPr id="19" name="Rounded Rectangle 18"/>
          <p:cNvSpPr/>
          <p:nvPr/>
        </p:nvSpPr>
        <p:spPr>
          <a:xfrm>
            <a:off x="566928" y="5077288"/>
            <a:ext cx="11057839" cy="1093606"/>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0" name="Oval 19"/>
          <p:cNvSpPr/>
          <p:nvPr/>
        </p:nvSpPr>
        <p:spPr>
          <a:xfrm>
            <a:off x="841247" y="5342464"/>
            <a:ext cx="402336" cy="402336"/>
          </a:xfrm>
          <a:prstGeom prst="ellipse">
            <a:avLst/>
          </a:prstGeom>
          <a:solidFill>
            <a:srgbClr val="C057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5374355"/>
            <a:ext cx="402336" cy="338554"/>
          </a:xfrm>
          <a:prstGeom prst="rect">
            <a:avLst/>
          </a:prstGeom>
          <a:noFill/>
        </p:spPr>
        <p:txBody>
          <a:bodyPr wrap="square" anchor="ctr">
            <a:spAutoFit/>
          </a:bodyPr>
          <a:lstStyle/>
          <a:p>
            <a:pPr algn="ctr"/>
            <a:r>
              <a:rPr sz="1600" b="1" i="0">
                <a:solidFill>
                  <a:srgbClr val="FFFFFF"/>
                </a:solidFill>
                <a:latin typeface="Georgia"/>
              </a:rPr>
              <a:t>4</a:t>
            </a:r>
          </a:p>
        </p:txBody>
      </p:sp>
      <p:sp>
        <p:nvSpPr>
          <p:cNvPr id="22" name="TextBox 21"/>
          <p:cNvSpPr txBox="1"/>
          <p:nvPr/>
        </p:nvSpPr>
        <p:spPr>
          <a:xfrm>
            <a:off x="1435607" y="5223592"/>
            <a:ext cx="9869119" cy="523220"/>
          </a:xfrm>
          <a:prstGeom prst="rect">
            <a:avLst/>
          </a:prstGeom>
          <a:noFill/>
        </p:spPr>
        <p:txBody>
          <a:bodyPr wrap="square" anchor="t">
            <a:spAutoFit/>
          </a:bodyPr>
          <a:lstStyle/>
          <a:p>
            <a:pPr algn="l"/>
            <a:r>
              <a:rPr sz="2800" b="1" i="0" dirty="0">
                <a:solidFill>
                  <a:srgbClr val="16324F"/>
                </a:solidFill>
                <a:latin typeface="Georgia"/>
              </a:rPr>
              <a:t>Check before you trust</a:t>
            </a:r>
          </a:p>
        </p:txBody>
      </p:sp>
      <p:sp>
        <p:nvSpPr>
          <p:cNvPr id="23" name="TextBox 22"/>
          <p:cNvSpPr txBox="1"/>
          <p:nvPr/>
        </p:nvSpPr>
        <p:spPr>
          <a:xfrm>
            <a:off x="1435606" y="5696618"/>
            <a:ext cx="9869119" cy="369332"/>
          </a:xfrm>
          <a:prstGeom prst="rect">
            <a:avLst/>
          </a:prstGeom>
          <a:noFill/>
        </p:spPr>
        <p:txBody>
          <a:bodyPr wrap="square" anchor="t">
            <a:spAutoFit/>
          </a:bodyPr>
          <a:lstStyle/>
          <a:p>
            <a:pPr algn="l"/>
            <a:r>
              <a:rPr b="0" i="0" dirty="0">
                <a:solidFill>
                  <a:srgbClr val="667685"/>
                </a:solidFill>
                <a:latin typeface="Calibri"/>
              </a:rPr>
              <a:t>Structured output is well formed. That is not the same as correct.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632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46304" cy="68580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60120" y="274320"/>
            <a:ext cx="10058400" cy="640080"/>
          </a:xfrm>
          <a:prstGeom prst="rect">
            <a:avLst/>
          </a:prstGeom>
          <a:noFill/>
        </p:spPr>
        <p:txBody>
          <a:bodyPr wrap="square" anchor="t">
            <a:spAutoFit/>
          </a:bodyPr>
          <a:lstStyle/>
          <a:p>
            <a:pPr algn="l"/>
            <a:r>
              <a:rPr sz="3400" b="1" i="0" dirty="0">
                <a:solidFill>
                  <a:srgbClr val="FFFFFF"/>
                </a:solidFill>
                <a:latin typeface="Georgia"/>
              </a:rPr>
              <a:t>Materials</a:t>
            </a:r>
          </a:p>
        </p:txBody>
      </p:sp>
      <p:sp>
        <p:nvSpPr>
          <p:cNvPr id="5" name="TextBox 4"/>
          <p:cNvSpPr txBox="1"/>
          <p:nvPr/>
        </p:nvSpPr>
        <p:spPr>
          <a:xfrm>
            <a:off x="1005840" y="1783080"/>
            <a:ext cx="10058400" cy="400110"/>
          </a:xfrm>
          <a:prstGeom prst="rect">
            <a:avLst/>
          </a:prstGeom>
          <a:noFill/>
        </p:spPr>
        <p:txBody>
          <a:bodyPr wrap="square" anchor="t">
            <a:spAutoFit/>
          </a:bodyPr>
          <a:lstStyle/>
          <a:p>
            <a:pPr algn="l"/>
            <a:r>
              <a:rPr sz="2000" b="0" i="0">
                <a:solidFill>
                  <a:srgbClr val="C9DCE7"/>
                </a:solidFill>
                <a:latin typeface="Calibri"/>
              </a:rPr>
              <a:t>Everything shown today is in the shared project folder.</a:t>
            </a:r>
          </a:p>
        </p:txBody>
      </p:sp>
      <p:sp>
        <p:nvSpPr>
          <p:cNvPr id="6" name="TextBox 5"/>
          <p:cNvSpPr txBox="1"/>
          <p:nvPr/>
        </p:nvSpPr>
        <p:spPr>
          <a:xfrm>
            <a:off x="1005840" y="2331720"/>
            <a:ext cx="10058400" cy="400110"/>
          </a:xfrm>
          <a:prstGeom prst="rect">
            <a:avLst/>
          </a:prstGeom>
          <a:noFill/>
        </p:spPr>
        <p:txBody>
          <a:bodyPr wrap="square" anchor="t">
            <a:spAutoFit/>
          </a:bodyPr>
          <a:lstStyle/>
          <a:p>
            <a:pPr algn="l"/>
            <a:r>
              <a:rPr sz="2000" b="1" i="0">
                <a:solidFill>
                  <a:srgbClr val="7FD4DD"/>
                </a:solidFill>
                <a:latin typeface="Consolas"/>
              </a:rPr>
              <a:t>R/</a:t>
            </a:r>
            <a:r>
              <a:rPr sz="2000" b="0" i="0">
                <a:solidFill>
                  <a:srgbClr val="C9DCE7"/>
                </a:solidFill>
                <a:latin typeface="Calibri"/>
              </a:rPr>
              <a:t>   numbered scripts, one step each, with notes throughout</a:t>
            </a:r>
          </a:p>
        </p:txBody>
      </p:sp>
      <p:sp>
        <p:nvSpPr>
          <p:cNvPr id="7" name="TextBox 6"/>
          <p:cNvSpPr txBox="1"/>
          <p:nvPr/>
        </p:nvSpPr>
        <p:spPr>
          <a:xfrm>
            <a:off x="1005840" y="2715768"/>
            <a:ext cx="10058400" cy="400110"/>
          </a:xfrm>
          <a:prstGeom prst="rect">
            <a:avLst/>
          </a:prstGeom>
          <a:noFill/>
        </p:spPr>
        <p:txBody>
          <a:bodyPr wrap="square" anchor="t">
            <a:spAutoFit/>
          </a:bodyPr>
          <a:lstStyle/>
          <a:p>
            <a:pPr algn="l"/>
            <a:r>
              <a:rPr sz="2000" b="1" i="0">
                <a:solidFill>
                  <a:srgbClr val="7FD4DD"/>
                </a:solidFill>
                <a:latin typeface="Consolas"/>
              </a:rPr>
              <a:t>docs/</a:t>
            </a:r>
            <a:r>
              <a:rPr sz="2000" b="0" i="0">
                <a:solidFill>
                  <a:srgbClr val="C9DCE7"/>
                </a:solidFill>
                <a:latin typeface="Calibri"/>
              </a:rPr>
              <a:t>   setup guide, training manual, checklists</a:t>
            </a:r>
          </a:p>
        </p:txBody>
      </p:sp>
      <p:sp>
        <p:nvSpPr>
          <p:cNvPr id="8" name="TextBox 7"/>
          <p:cNvSpPr txBox="1"/>
          <p:nvPr/>
        </p:nvSpPr>
        <p:spPr>
          <a:xfrm>
            <a:off x="1005840" y="3099815"/>
            <a:ext cx="10058400" cy="400110"/>
          </a:xfrm>
          <a:prstGeom prst="rect">
            <a:avLst/>
          </a:prstGeom>
          <a:noFill/>
        </p:spPr>
        <p:txBody>
          <a:bodyPr wrap="square" anchor="t">
            <a:spAutoFit/>
          </a:bodyPr>
          <a:lstStyle/>
          <a:p>
            <a:pPr algn="l"/>
            <a:r>
              <a:rPr sz="2000" b="1" i="0">
                <a:solidFill>
                  <a:srgbClr val="7FD4DD"/>
                </a:solidFill>
                <a:latin typeface="Consolas"/>
              </a:rPr>
              <a:t>data/</a:t>
            </a:r>
            <a:r>
              <a:rPr sz="2000" b="0" i="0">
                <a:solidFill>
                  <a:srgbClr val="C9DCE7"/>
                </a:solidFill>
                <a:latin typeface="Calibri"/>
              </a:rPr>
              <a:t>   the article snapshots and the tweets</a:t>
            </a:r>
          </a:p>
        </p:txBody>
      </p:sp>
      <p:sp>
        <p:nvSpPr>
          <p:cNvPr id="9" name="TextBox 8"/>
          <p:cNvSpPr txBox="1"/>
          <p:nvPr/>
        </p:nvSpPr>
        <p:spPr>
          <a:xfrm>
            <a:off x="1005840" y="3483863"/>
            <a:ext cx="10058400" cy="400110"/>
          </a:xfrm>
          <a:prstGeom prst="rect">
            <a:avLst/>
          </a:prstGeom>
          <a:noFill/>
        </p:spPr>
        <p:txBody>
          <a:bodyPr wrap="square" anchor="t">
            <a:spAutoFit/>
          </a:bodyPr>
          <a:lstStyle/>
          <a:p>
            <a:pPr algn="l"/>
            <a:r>
              <a:rPr sz="2000" b="1" i="0">
                <a:solidFill>
                  <a:srgbClr val="7FD4DD"/>
                </a:solidFill>
                <a:latin typeface="Consolas"/>
              </a:rPr>
              <a:t>prebuilt/</a:t>
            </a:r>
            <a:r>
              <a:rPr sz="2000" b="0" i="0">
                <a:solidFill>
                  <a:srgbClr val="C9DCE7"/>
                </a:solidFill>
                <a:latin typeface="Calibri"/>
              </a:rPr>
              <a:t>   every figure as an image</a:t>
            </a:r>
          </a:p>
        </p:txBody>
      </p:sp>
      <p:sp>
        <p:nvSpPr>
          <p:cNvPr id="10" name="TextBox 9"/>
          <p:cNvSpPr txBox="1"/>
          <p:nvPr/>
        </p:nvSpPr>
        <p:spPr>
          <a:xfrm>
            <a:off x="1005840" y="3867911"/>
            <a:ext cx="10058400" cy="400110"/>
          </a:xfrm>
          <a:prstGeom prst="rect">
            <a:avLst/>
          </a:prstGeom>
          <a:noFill/>
        </p:spPr>
        <p:txBody>
          <a:bodyPr wrap="square" anchor="t">
            <a:spAutoFit/>
          </a:bodyPr>
          <a:lstStyle/>
          <a:p>
            <a:pPr algn="l"/>
            <a:r>
              <a:rPr sz="2000" b="1" i="0">
                <a:solidFill>
                  <a:srgbClr val="7FD4DD"/>
                </a:solidFill>
                <a:latin typeface="Consolas"/>
              </a:rPr>
              <a:t>README.md</a:t>
            </a:r>
            <a:r>
              <a:rPr sz="2000" b="0" i="0">
                <a:solidFill>
                  <a:srgbClr val="C9DCE7"/>
                </a:solidFill>
                <a:latin typeface="Calibri"/>
              </a:rPr>
              <a:t>   how to run it, and what to do when something breaks</a:t>
            </a:r>
          </a:p>
        </p:txBody>
      </p:sp>
      <p:sp>
        <p:nvSpPr>
          <p:cNvPr id="11" name="Rectangle 10"/>
          <p:cNvSpPr/>
          <p:nvPr/>
        </p:nvSpPr>
        <p:spPr>
          <a:xfrm>
            <a:off x="1005840" y="4775499"/>
            <a:ext cx="2011680" cy="27432"/>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2" name="TextBox 11"/>
          <p:cNvSpPr txBox="1"/>
          <p:nvPr/>
        </p:nvSpPr>
        <p:spPr>
          <a:xfrm>
            <a:off x="1005840" y="4958379"/>
            <a:ext cx="10241280" cy="646331"/>
          </a:xfrm>
          <a:prstGeom prst="rect">
            <a:avLst/>
          </a:prstGeom>
          <a:noFill/>
        </p:spPr>
        <p:txBody>
          <a:bodyPr wrap="square" anchor="t">
            <a:spAutoFit/>
          </a:bodyPr>
          <a:lstStyle/>
          <a:p>
            <a:pPr algn="l"/>
            <a:r>
              <a:rPr b="0" i="0">
                <a:solidFill>
                  <a:srgbClr val="8FB2C4"/>
                </a:solidFill>
                <a:latin typeface="Calibri"/>
              </a:rPr>
              <a:t>ellmer.tidyverse.org  ·  structuraltopicmodel.com  ·  ggraph.data-imaginist.com  ·  Text Mining with R (Silge and Robinson)</a:t>
            </a:r>
          </a:p>
        </p:txBody>
      </p:sp>
      <p:sp>
        <p:nvSpPr>
          <p:cNvPr id="13" name="TextBox 12"/>
          <p:cNvSpPr txBox="1"/>
          <p:nvPr/>
        </p:nvSpPr>
        <p:spPr>
          <a:xfrm>
            <a:off x="1005840" y="5805003"/>
            <a:ext cx="10058400" cy="548640"/>
          </a:xfrm>
          <a:prstGeom prst="rect">
            <a:avLst/>
          </a:prstGeom>
          <a:noFill/>
        </p:spPr>
        <p:txBody>
          <a:bodyPr wrap="square" anchor="t">
            <a:spAutoFit/>
          </a:bodyPr>
          <a:lstStyle/>
          <a:p>
            <a:pPr algn="l"/>
            <a:r>
              <a:rPr sz="2400" b="0" i="1" dirty="0">
                <a:solidFill>
                  <a:srgbClr val="FFFFFF"/>
                </a:solidFill>
                <a:latin typeface="Georgia"/>
              </a:rPr>
              <a:t>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3618</Words>
  <Application>Microsoft Office PowerPoint</Application>
  <PresentationFormat>Widescreen</PresentationFormat>
  <Paragraphs>308</Paragraphs>
  <Slides>24</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Canva Sans</vt:lpstr>
      <vt:lpstr>Canva Sans Bold</vt:lpstr>
      <vt:lpstr>Canva Sans Italics</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2026-07-21T07:58:09Z</dcterms:created>
  <dcterms:modified xsi:type="dcterms:W3CDTF">2026-07-21T18:18:59Z</dcterms:modified>
  <cp:category/>
</cp:coreProperties>
</file>